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4472C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No ventricular dysfunction</c:v>
                  </c:pt>
                  <c:pt idx="1">
                    <c:v>Isolated LV dysfunction</c:v>
                  </c:pt>
                  <c:pt idx="2">
                    <c:v>Isolated RV dysfunction</c:v>
                  </c:pt>
                  <c:pt idx="3">
                    <c:v>Biventricular dysfunction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25.7</c:v>
                </c:pt>
                <c:pt idx="1">
                  <c:v>35.5</c:v>
                </c:pt>
                <c:pt idx="2">
                  <c:v>44.4</c:v>
                </c:pt>
                <c:pt idx="3">
                  <c:v>58.6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000000"/>
                </a:solidFill>
                <a:latin typeface="等线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7E6E6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percent</a:t>
                </a:r>
              </a:p>
            </c:rich>
          </c:tx>
          <c:layout/>
          <c:overlay val="0"/>
        </c:title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000000"/>
                </a:solidFill>
                <a:latin typeface="等线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scope and that all reported content is source-bound.
[Slide-ID]
SLD-8EF87E789A485E3F8EB6
[Slide-Revision]
1
[Content-Hash]
f41e91ab22f4e8c144a0f19393c05f6f78f11c468c7e64faea20df9e9f633816
[Claims]
- NONE
[Wording-Boundary]
Preserve source wording and uncertainty.
[Sources]
- SRC-01-patient-level-synthet-44fed4fb8cd3
- SRC-02-cohort-summary-1dbb58326345
- SRC-03-model-results-60094a3fa178
- SRC-04-sensitivity-results-5ccfe8975248
- SRC-05-subgroup-results-2615cf06f550
- SRC-06-missingness-52d547971cf7
- SRC-07-data-dictionary-651b51eed07b
- SRC-08-frozen-analysis-workb-7c9d8fa9a6d0
- SRC-01-main-manuscript-synth-95e4fa25aff0
- SRC-02-protocol-synopsis-syn-00480991443d
- SRC-03-supplementary-methods-91c0cedcb895
- SRC-figure-1-cohort-flow-768a1278488a
- SRC-figure-2-primary-forest-64b705494c45
- SRC-figure-3-creatinine-traj-a6ac74f7bbf8
- SRC-figure-4-missingness-f10f6562518f
- SRC-figure-5-sensitivity-1ccb24ef4f17
- SRC-figure-5-sensitivity-7703f707fec0
- SRC-reference-status-ca4e36a12f8d
- SRC-selected-references-9ba20483f340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unprovided information is not inferred.
[Slide-ID]
SLD-A9E00233DA0B5C5BBEB4
[Slide-Revision]
1
[Content-Hash]
cc53f634b695baa22c5348944b70becdc8809595513c368944ebcf474918d0bd
[Claims]
- NONE
[Wording-Boundary]
Preserve source wording and uncertainty.
[Sources]
- SRC-01-patient-level-synthet-44fed4fb8cd3
- SRC-02-cohort-summary-1dbb58326345
- SRC-03-model-results-60094a3fa178
- SRC-04-sensitivity-results-5ccfe8975248
- SRC-05-subgroup-results-2615cf06f550
- SRC-06-missingness-52d547971cf7
- SRC-07-data-dictionary-651b51eed07b
- SRC-08-frozen-analysis-workb-7c9d8fa9a6d0
- SRC-01-main-manuscript-synth-95e4fa25aff0
- SRC-02-protocol-synopsis-syn-00480991443d
- SRC-03-supplementary-methods-91c0cedcb895
- SRC-figure-1-cohort-flow-768a1278488a
- SRC-figure-2-primary-forest-64b705494c45
- SRC-figure-3-creatinine-traj-a6ac74f7bbf8
- SRC-figure-4-missingness-f10f6562518f
- SRC-figure-5-sensitivity-1ccb24ef4f17
- SRC-figure-5-sensitivity-7703f707fec0
- SRC-reference-status-ca4e36a12f8d
- SRC-selected-references-9ba20483f340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extracted line 5. Avoid: 仅可表述为合成观察性关联；不得表述为真实患者研究或因果效应。
[Slide-ID]
SLD-4ABCCA3C794D54E8A2D7
[Slide-Revision]
1
[Content-Hash]
b8f1ec5563015c8b43a8f6ce37d72714c76bd37bb55a9d25c8f65711416ab20c
[Claims]
- SHD-001
[Wording-Boundary]
仅可表述为合成观察性关联；不得表述为真实患者研究或因果效应。
[Sources]
- SRC-01-main-manuscript-synth-95e4fa25aff0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extracted line 4. Avoid: 不得补充输入未提供的真实数据库、伦理审批或外部验证信息。
[Slide-ID]
SLD-5C85C33891BD51B6B8A0
[Slide-Revision]
1
[Content-Hash]
0f54e0fdf472b8a729150132bb528abc7f9f5cd01a2a2f781c40abd93bde950a
[Claims]
- SHD-002
[Wording-Boundary]
不得补充输入未提供的真实数据库、伦理审批或外部验证信息。
[Sources]
- SRC-02-protocol-synopsis-syn-00480991443d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figures/figure_1_cohort_flow.png. Avoid: 流程图仅用于合成技术验证；不得解释为真实患者招募。
[Slide-ID]
SLD-8018D568EBF75F53BBD9
[Slide-Revision]
1
[Content-Hash]
add2161ce9c08b0b48c66b5f0312fcaa7b4f113d461fd9febd043d5eced3d600
[Claims]
- SHD-003
[Wording-Boundary]
流程图仅用于合成技术验证；不得解释为真实患者招募。
[Sources]
- SRC-figure-1-cohort-flow-768a1278488a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extracted line 56. Avoid: 不得把分类梯度解释为因果剂量反应。
[Slide-ID]
SLD-5FA02A0DB7905F6592A6
[Slide-Revision]
1
[Content-Hash]
b39c10443bd288de7147d46e2f0d7b246041dacf779922850d651010f242d6dc
[Claims]
- SHD-004
[Wording-Boundary]
不得把分类梯度解释为因果剂量反应。
[Sources]
- SRC-01-main-manuscript-synth-95e4fa25aff0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data/02_cohort_summary.csv: all phenotype rows. Avoid: 只报告描述性发生率；不得表述为因果梯度。
[Slide-ID]
SLD-56566EBFE1825B90B959
[Slide-Revision]
1
[Content-Hash]
24d80433946ea2f5790ec8f4463e1e1d23c502eb30605b97a8c290c15e98a1a7
[Claims]
- SHD-005
[Wording-Boundary]
只报告描述性发生率；不得表述为因果梯度。
[Sources]
- SRC-02-cohort-summary-1dbb58326345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data/03_model_results.csv: claim_id=CLM-001. Avoid: 不得称为统计学显著、明确阳性或独立因果效应。
[Slide-ID]
SLD-C189C2D15E9D5599B044
[Slide-Revision]
1
[Content-Hash]
ce56b31d3e4c5286c0ffeb583cfe0b484bb8e700d13bce4a6bd9131b703db515
[Claims]
- SHD-006
[Wording-Boundary]
不得称为统计学显著、明确阳性或独立因果效应。
[Sources]
- SRC-03-model-results-60094a3fa178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data/03_model_results.csv: claim_id=CLM-002. Avoid: 不得表述为 RV 功能障碍导致 AKI。
[Slide-ID]
SLD-D5B59FFA31B4585E943B
[Slide-Revision]
1
[Content-Hash]
fde9a9d322da95a40b63d448c551ecf36ef931b2348faeabbf709e860b07fcac
[Claims]
- SHD-007
[Wording-Boundary]
不得表述为 RV 功能障碍导致 AKI。
[Sources]
- SRC-03-model-results-60094a3fa178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data/03_model_results.csv: claim_id=CLM-003. Avoid: 不得表述为剂量反应因果关系、机制证明或临床验证。
[Slide-ID]
SLD-16F80628E010516E80BC
[Slide-Revision]
1
[Content-Hash]
7075475402f948c412d33a263555ca8f85504b58edc628bd3b740bc7734af02c
[Claims]
- SHD-008
[Wording-Boundary]
不得表述为剂量反应因果关系、机制证明或临床验证。
[Sources]
- SRC-03-model-results-60094a3fa178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figures/figure_3_creatinine_trajectory.png. Avoid: 不得解释为治疗导致的改善或恶化。
[Slide-ID]
SLD-EDBE6B706AA0576EB52B
[Slide-Revision]
1
[Content-Hash]
890cd7a868482c401f5cc26fd73147a678a65bbd1e86b8fa47feeb4cf2678743
[Claims]
- SHD-009
[Wording-Boundary]
不得解释为治疗导致的改善或恶化。
[Sources]
- SRC-figure-3-creatinine-traj-a6ac74f7bbf8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data/03_model_results.csv: claim_id=CLM-004. Avoid: 不得表述为真实临床死亡风险、因果效应或临床工具。
[Slide-ID]
SLD-EE6EC72C1491573D8907
[Slide-Revision]
1
[Content-Hash]
1930a6c240cb207f07e83ff39063c204f0fb4e5c9a8efd27d2daea526b59f60a
[Claims]
- SHD-010
[Wording-Boundary]
不得表述为真实临床死亡风险、因果效应或临床工具。
[Sources]
- SRC-03-model-results-60094a3fa178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data/04_sensitivity_results.csv: all rows. Avoid: 一致性不等于消除偏倚、证明稳健因果效应或临床有效性。
[Slide-ID]
SLD-3F0AD88B772E5C7FA7E0
[Slide-Revision]
1
[Content-Hash]
7b732dfa2a9e8f2db26b6aaba705dfbcb824458f00b5785aa354b422591088f3
[Claims]
- SHD-011
[Wording-Boundary]
一致性不等于消除偏倚、证明稳健因果效应或临床有效性。
[Sources]
- SRC-04-sensitivity-results-5ccfe8975248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data/05_subgroup_results.csv: all rows. Avoid: 不得依据单个亚组点估计声称 effect modification。
[Slide-ID]
SLD-7824DF78880858128303
[Slide-Revision]
1
[Content-Hash]
454f791816e2383e0167e4d4f3527bee7884af4afcfd6ee0b3751f76bc221243
[Claims]
- SHD-012
[Wording-Boundary]
不得依据单个亚组点估计声称 effect modification。
[Sources]
- SRC-05-subgroup-results-2615cf06f550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data/06_missingness.csv: variable=bnp_pg_mL. Avoid: 不得声称插补消除了缺失偏倚、缺失不影响结果或 BNP 可安全纳入主模型。
[Slide-ID]
SLD-700E716D00235B2E82ED
[Slide-Revision]
1
[Content-Hash]
71e428bbe1cb0355d743035292457a1f590337271eaece4c7cf492453994e51e
[Claims]
- SHD-013
[Wording-Boundary]
不得声称插补消除了缺失偏倚、缺失不影响结果或 BNP 可安全纳入主模型。
[Sources]
- SRC-06-missingness-52d547971cf7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references/reference_status.md. Avoid: 不得虚构伦理编号、补造参考文献或静默删除 unresolved marker。
[Slide-ID]
SLD-CAEFF30DBD495361B959
[Slide-Revision]
1
[Content-Hash]
1d2beac8e56207bf7a2d68589b2c8182620183d922b5e4fe1a9b787cb37aa424
[Claims]
- SHD-014
[Wording-Boundary]
不得虚构伦理编号、补造参考文献或静默删除 unresolved marker。
[Sources]
- SRC-reference-status-ca4e36a12f8d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 limitations and uncertainty explicitly.
[Slide-ID]
SLD-C81119DA20855F38A3D6
[Slide-Revision]
1
[Content-Hash]
735c939338876f18512623f1976c3dcf3bf4625430e9d0294f58c38e0c658f43
[Claims]
- NONE
[Wording-Boundary]
Preserve source wording and uncertainty.
[Sources]
- SRC-01-patient-level-synthet-44fed4fb8cd3
- SRC-02-cohort-summary-1dbb58326345
- SRC-03-model-results-60094a3fa178
- SRC-04-sensitivity-results-5ccfe8975248
- SRC-05-subgroup-results-2615cf06f550
- SRC-06-missingness-52d547971cf7
- SRC-07-data-dictionary-651b51eed07b
- SRC-08-frozen-analysis-workb-7c9d8fa9a6d0
- SRC-01-main-manuscript-synth-95e4fa25aff0
- SRC-02-protocol-synopsis-syn-00480991443d
- SRC-03-supplementary-methods-91c0cedcb895
- SRC-figure-1-cohort-flow-768a1278488a
- SRC-figure-2-primary-forest-64b705494c45
- SRC-figure-3-creatinine-traj-a6ac74f7bbf8
- SRC-figure-4-missingness-f10f6562518f
- SRC-figure-5-sensitivity-1ccb24ef4f17
- SRC-figure-5-sensitivity-7703f707fec0
- SRC-reference-status-ca4e36a12f8d
- SRC-selected-references-9ba20483f340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Confirm every claim, number, citation, and omission before external use.
[Slide-ID]
SLD-3F9BB64F1ED7527A8F85
[Slide-Revision]
1
[Content-Hash]
735b1e75474e8023b90b2f2400a3ea1619838a2f4223a501a415a772113c1c5c
[Claims]
- NONE
[Wording-Boundary]
Preserve source wording and uncertainty.
[Sources]
- SRC-01-main-manuscript-synth-95e4fa25aff0
- SRC-02-protocol-synopsis-syn-00480991443d
- SRC-figure-1-cohort-flow-768a1278488a
- SRC-02-cohort-summary-1dbb58326345
- SRC-03-model-results-60094a3fa178
- SRC-figure-3-creatinine-traj-a6ac74f7bbf8
- SRC-04-sensitivity-results-5ccfe8975248
- SRC-05-subgroup-results-2615cf06f550
- SRC-06-missingness-52d547971cf7
- SRC-reference-status-ca4e36a12f8d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wf:SLD-8EF87E789A485E3F8EB6:cover-bar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3" name="awf:SLD-8EF87E789A485E3F8EB6:eyebrow"/>
          <p:cNvSpPr/>
          <p:nvPr/>
        </p:nvSpPr>
        <p:spPr>
          <a:xfrm>
            <a:off x="758952" y="8229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7D31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ACADEMIC PRESENTATION</a:t>
            </a:r>
            <a:endParaRPr lang="en-US" sz="1200" dirty="0"/>
          </a:p>
        </p:txBody>
      </p:sp>
      <p:sp>
        <p:nvSpPr>
          <p:cNvPr id="4" name="awf:SLD-8EF87E789A485E3F8EB6:title"/>
          <p:cNvSpPr/>
          <p:nvPr/>
        </p:nvSpPr>
        <p:spPr>
          <a:xfrm>
            <a:off x="758952" y="1325880"/>
            <a:ext cx="98755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000" b="1" dirty="0">
                <a:solidFill>
                  <a:srgbClr val="44546A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SYN CARDIO AKI SHADOW VALIDATION</a:t>
            </a:r>
            <a:endParaRPr lang="en-US" sz="5000" dirty="0"/>
          </a:p>
        </p:txBody>
      </p:sp>
      <p:sp>
        <p:nvSpPr>
          <p:cNvPr id="5" name="awf:SLD-8EF87E789A485E3F8EB6:key-message"/>
          <p:cNvSpPr/>
          <p:nvPr/>
        </p:nvSpPr>
        <p:spPr>
          <a:xfrm>
            <a:off x="758952" y="3566160"/>
            <a:ext cx="8595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5E719B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复杂合成医学科研材料的可追溯影子验证；不代表真实临床研究或真实世界验证。</a:t>
            </a:r>
            <a:endParaRPr lang="en-US" sz="2100" dirty="0"/>
          </a:p>
        </p:txBody>
      </p:sp>
      <p:sp>
        <p:nvSpPr>
          <p:cNvPr id="6" name="awf:SLD-8EF87E789A485E3F8EB6:metadata"/>
          <p:cNvSpPr/>
          <p:nvPr/>
        </p:nvSpPr>
        <p:spPr>
          <a:xfrm>
            <a:off x="758952" y="56235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19B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research_report · 18 min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wf:SLD-A9E00233DA0B5C5BBEB4:title-accent"/>
          <p:cNvSpPr/>
          <p:nvPr/>
        </p:nvSpPr>
        <p:spPr>
          <a:xfrm>
            <a:off x="685800" y="512064"/>
            <a:ext cx="493776" cy="64008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>
                <a:alpha val="0"/>
              </a:srgbClr>
            </a:solidFill>
            <a:prstDash val="solid"/>
          </a:ln>
        </p:spPr>
      </p:sp>
      <p:sp>
        <p:nvSpPr>
          <p:cNvPr id="3" name="awf:SLD-A9E00233DA0B5C5BBEB4:title"/>
          <p:cNvSpPr/>
          <p:nvPr/>
        </p:nvSpPr>
        <p:spPr>
          <a:xfrm>
            <a:off x="685800" y="694944"/>
            <a:ext cx="1081735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44546A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输入材料界定本次汇报的证据边界</a:t>
            </a:r>
            <a:endParaRPr lang="en-US" sz="3500" dirty="0"/>
          </a:p>
        </p:txBody>
      </p:sp>
      <p:sp>
        <p:nvSpPr>
          <p:cNvPr id="4" name="awf:SLD-A9E00233DA0B5C5BBEB4:key-message"/>
          <p:cNvSpPr/>
          <p:nvPr/>
        </p:nvSpPr>
        <p:spPr>
          <a:xfrm>
            <a:off x="685800" y="187452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4546A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已登记 19 个科研来源文件并保留 SHA-256 溯源。</a:t>
            </a:r>
            <a:endParaRPr lang="en-US" sz="2400" dirty="0"/>
          </a:p>
        </p:txBody>
      </p:sp>
      <p:sp>
        <p:nvSpPr>
          <p:cNvPr id="5" name="awf:SLD-A9E00233DA0B5C5BBEB4:source-index:1"/>
          <p:cNvSpPr/>
          <p:nvPr/>
        </p:nvSpPr>
        <p:spPr>
          <a:xfrm>
            <a:off x="914400" y="27432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7D31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awf:SLD-A9E00233DA0B5C5BBEB4:source-name:1"/>
          <p:cNvSpPr/>
          <p:nvPr/>
        </p:nvSpPr>
        <p:spPr>
          <a:xfrm>
            <a:off x="1737360" y="27432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546A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01_patient_level_synthetic.csv</a:t>
            </a:r>
            <a:endParaRPr lang="en-US" sz="1800" dirty="0"/>
          </a:p>
        </p:txBody>
      </p:sp>
      <p:sp>
        <p:nvSpPr>
          <p:cNvPr id="7" name="awf:SLD-A9E00233DA0B5C5BBEB4:source-id:1"/>
          <p:cNvSpPr/>
          <p:nvPr/>
        </p:nvSpPr>
        <p:spPr>
          <a:xfrm>
            <a:off x="6766560" y="27432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E719B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CSV · SRC-01-patient-level-synthet-44fed4fb8cd3</a:t>
            </a:r>
            <a:endParaRPr lang="en-US" sz="1400" dirty="0"/>
          </a:p>
        </p:txBody>
      </p:sp>
      <p:sp>
        <p:nvSpPr>
          <p:cNvPr id="8" name="awf:SLD-A9E00233DA0B5C5BBEB4:source-index:2"/>
          <p:cNvSpPr/>
          <p:nvPr/>
        </p:nvSpPr>
        <p:spPr>
          <a:xfrm>
            <a:off x="914400" y="345643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7D31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awf:SLD-A9E00233DA0B5C5BBEB4:source-name:2"/>
          <p:cNvSpPr/>
          <p:nvPr/>
        </p:nvSpPr>
        <p:spPr>
          <a:xfrm>
            <a:off x="1737360" y="345643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546A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02_cohort_summary.csv</a:t>
            </a:r>
            <a:endParaRPr lang="en-US" sz="1800" dirty="0"/>
          </a:p>
        </p:txBody>
      </p:sp>
      <p:sp>
        <p:nvSpPr>
          <p:cNvPr id="10" name="awf:SLD-A9E00233DA0B5C5BBEB4:source-id:2"/>
          <p:cNvSpPr/>
          <p:nvPr/>
        </p:nvSpPr>
        <p:spPr>
          <a:xfrm>
            <a:off x="6766560" y="345643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E719B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CSV · SRC-02-cohort-summary-1dbb58326345</a:t>
            </a:r>
            <a:endParaRPr lang="en-US" sz="1400" dirty="0"/>
          </a:p>
        </p:txBody>
      </p:sp>
      <p:sp>
        <p:nvSpPr>
          <p:cNvPr id="11" name="awf:SLD-A9E00233DA0B5C5BBEB4:source-index:3"/>
          <p:cNvSpPr/>
          <p:nvPr/>
        </p:nvSpPr>
        <p:spPr>
          <a:xfrm>
            <a:off x="914400" y="416966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7D31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1600" dirty="0"/>
          </a:p>
        </p:txBody>
      </p:sp>
      <p:sp>
        <p:nvSpPr>
          <p:cNvPr id="12" name="awf:SLD-A9E00233DA0B5C5BBEB4:source-name:3"/>
          <p:cNvSpPr/>
          <p:nvPr/>
        </p:nvSpPr>
        <p:spPr>
          <a:xfrm>
            <a:off x="1737360" y="416966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546A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03_model_results.csv</a:t>
            </a:r>
            <a:endParaRPr lang="en-US" sz="1800" dirty="0"/>
          </a:p>
        </p:txBody>
      </p:sp>
      <p:sp>
        <p:nvSpPr>
          <p:cNvPr id="13" name="awf:SLD-A9E00233DA0B5C5BBEB4:source-id:3"/>
          <p:cNvSpPr/>
          <p:nvPr/>
        </p:nvSpPr>
        <p:spPr>
          <a:xfrm>
            <a:off x="6766560" y="416966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E719B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CSV · SRC-03-model-results-60094a3fa178</a:t>
            </a:r>
            <a:endParaRPr lang="en-US" sz="1400" dirty="0"/>
          </a:p>
        </p:txBody>
      </p:sp>
      <p:sp>
        <p:nvSpPr>
          <p:cNvPr id="14" name="awf:SLD-A9E00233DA0B5C5BBEB4:source-index:4"/>
          <p:cNvSpPr/>
          <p:nvPr/>
        </p:nvSpPr>
        <p:spPr>
          <a:xfrm>
            <a:off x="914400" y="488289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7D31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04</a:t>
            </a:r>
            <a:endParaRPr lang="en-US" sz="1600" dirty="0"/>
          </a:p>
        </p:txBody>
      </p:sp>
      <p:sp>
        <p:nvSpPr>
          <p:cNvPr id="15" name="awf:SLD-A9E00233DA0B5C5BBEB4:source-name:4"/>
          <p:cNvSpPr/>
          <p:nvPr/>
        </p:nvSpPr>
        <p:spPr>
          <a:xfrm>
            <a:off x="1737360" y="488289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546A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04_sensitivity_results.csv</a:t>
            </a:r>
            <a:endParaRPr lang="en-US" sz="1800" dirty="0"/>
          </a:p>
        </p:txBody>
      </p:sp>
      <p:sp>
        <p:nvSpPr>
          <p:cNvPr id="16" name="awf:SLD-A9E00233DA0B5C5BBEB4:source-id:4"/>
          <p:cNvSpPr/>
          <p:nvPr/>
        </p:nvSpPr>
        <p:spPr>
          <a:xfrm>
            <a:off x="6766560" y="488289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E719B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CSV · SRC-04-sensitivity-results-5ccfe8975248</a:t>
            </a:r>
            <a:endParaRPr lang="en-US" sz="1400" dirty="0"/>
          </a:p>
        </p:txBody>
      </p:sp>
      <p:sp>
        <p:nvSpPr>
          <p:cNvPr id="17" name="awf:SLD-A9E00233DA0B5C5BBEB4:source-index:5"/>
          <p:cNvSpPr/>
          <p:nvPr/>
        </p:nvSpPr>
        <p:spPr>
          <a:xfrm>
            <a:off x="914400" y="559612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7D31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05</a:t>
            </a:r>
            <a:endParaRPr lang="en-US" sz="1600" dirty="0"/>
          </a:p>
        </p:txBody>
      </p:sp>
      <p:sp>
        <p:nvSpPr>
          <p:cNvPr id="18" name="awf:SLD-A9E00233DA0B5C5BBEB4:source-name:5"/>
          <p:cNvSpPr/>
          <p:nvPr/>
        </p:nvSpPr>
        <p:spPr>
          <a:xfrm>
            <a:off x="1737360" y="559612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546A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05_subgroup_results.csv</a:t>
            </a:r>
            <a:endParaRPr lang="en-US" sz="1800" dirty="0"/>
          </a:p>
        </p:txBody>
      </p:sp>
      <p:sp>
        <p:nvSpPr>
          <p:cNvPr id="19" name="awf:SLD-A9E00233DA0B5C5BBEB4:source-id:5"/>
          <p:cNvSpPr/>
          <p:nvPr/>
        </p:nvSpPr>
        <p:spPr>
          <a:xfrm>
            <a:off x="6766560" y="559612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E719B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CSV · SRC-05-subgroup-results-2615cf06f550</a:t>
            </a:r>
            <a:endParaRPr lang="en-US" sz="1400" dirty="0"/>
          </a:p>
        </p:txBody>
      </p:sp>
      <p:sp>
        <p:nvSpPr>
          <p:cNvPr id="20" name="awf:SLD-A9E00233DA0B5C5BBEB4:source-index:6"/>
          <p:cNvSpPr/>
          <p:nvPr/>
        </p:nvSpPr>
        <p:spPr>
          <a:xfrm>
            <a:off x="914400" y="630936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7D31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06</a:t>
            </a:r>
            <a:endParaRPr lang="en-US" sz="1600" dirty="0"/>
          </a:p>
        </p:txBody>
      </p:sp>
      <p:sp>
        <p:nvSpPr>
          <p:cNvPr id="21" name="awf:SLD-A9E00233DA0B5C5BBEB4:source-name:6"/>
          <p:cNvSpPr/>
          <p:nvPr/>
        </p:nvSpPr>
        <p:spPr>
          <a:xfrm>
            <a:off x="1737360" y="63093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546A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06_missingness.csv</a:t>
            </a:r>
            <a:endParaRPr lang="en-US" sz="1800" dirty="0"/>
          </a:p>
        </p:txBody>
      </p:sp>
      <p:sp>
        <p:nvSpPr>
          <p:cNvPr id="22" name="awf:SLD-A9E00233DA0B5C5BBEB4:source-id:6"/>
          <p:cNvSpPr/>
          <p:nvPr/>
        </p:nvSpPr>
        <p:spPr>
          <a:xfrm>
            <a:off x="6766560" y="63093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E719B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CSV · SRC-06-missingness-52d547971cf7</a:t>
            </a:r>
            <a:endParaRPr lang="en-US" sz="1400" dirty="0"/>
          </a:p>
        </p:txBody>
      </p:sp>
      <p:sp>
        <p:nvSpPr>
          <p:cNvPr id="23" name="awf:SLD-A9E00233DA0B5C5BBEB4:footer-line"/>
          <p:cNvSpPr/>
          <p:nvPr/>
        </p:nvSpPr>
        <p:spPr>
          <a:xfrm>
            <a:off x="685800" y="6336792"/>
            <a:ext cx="10817352" cy="0"/>
          </a:xfrm>
          <a:prstGeom prst="line">
            <a:avLst/>
          </a:prstGeom>
          <a:noFill/>
          <a:ln w="12700">
            <a:solidFill>
              <a:srgbClr val="E7E6E6"/>
            </a:solidFill>
            <a:prstDash val="solid"/>
          </a:ln>
        </p:spPr>
      </p:sp>
      <p:sp>
        <p:nvSpPr>
          <p:cNvPr id="24" name="awf:SLD-A9E00233DA0B5C5BBEB4:sources"/>
          <p:cNvSpPr/>
          <p:nvPr/>
        </p:nvSpPr>
        <p:spPr>
          <a:xfrm>
            <a:off x="685800" y="6254496"/>
            <a:ext cx="9418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E719B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Sources: SRC-01-patient-level-synthet-44fed4fb8cd3, SRC-02-cohort-summary-1dbb58326345, SRC-03-model-results-60094a3fa178, SRC-04-sensitivity-results-5ccfe8975248, SRC-05-subgroup-results-2615cf06f550, SRC-06-missingness-52d547971cf7, SRC-07-data-dictionary-651b51eed07b, SRC-08-frozen-analysis-workb-7c9d8fa9a6d0, SRC-01-main-manuscript-synth-95e4fa25aff0, SRC-02-protocol-synopsis-syn-00480991443d, SRC-03-supplementary-methods-91c0cedcb895, SRC-figure-1-cohort-flow-768a1278488a, SRC-figure-2-primary-forest-64b705494c45, SRC-figure-3-creatinine-traj-a6ac74f7bbf8, SRC-figure-4-missingness-f10f6562518f, SRC-figure-5-sensitivity-1ccb24ef4f17, SRC-figure-5-sensitivity-7703f707fec0, SRC-reference-status-ca4e36a12f8d, SRC-selected-references-9ba20483f340</a:t>
            </a:r>
            <a:endParaRPr lang="en-US" sz="1000" dirty="0"/>
          </a:p>
        </p:txBody>
      </p:sp>
      <p:sp>
        <p:nvSpPr>
          <p:cNvPr id="25" name="awf:SLD-A9E00233DA0B5C5BBEB4:page-number"/>
          <p:cNvSpPr/>
          <p:nvPr/>
        </p:nvSpPr>
        <p:spPr>
          <a:xfrm>
            <a:off x="10789920" y="638251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19B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wf:SLD-4ABCCA3C794D54E8A2D7:title-accent"/>
          <p:cNvSpPr/>
          <p:nvPr/>
        </p:nvSpPr>
        <p:spPr>
          <a:xfrm>
            <a:off x="685800" y="512064"/>
            <a:ext cx="493776" cy="64008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>
                <a:alpha val="0"/>
              </a:srgbClr>
            </a:solidFill>
            <a:prstDash val="solid"/>
          </a:ln>
        </p:spPr>
      </p:sp>
      <p:sp>
        <p:nvSpPr>
          <p:cNvPr id="3" name="awf:SLD-4ABCCA3C794D54E8A2D7:title"/>
          <p:cNvSpPr/>
          <p:nvPr/>
        </p:nvSpPr>
        <p:spPr>
          <a:xfrm>
            <a:off x="685800" y="694944"/>
            <a:ext cx="1081735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44546A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本次分析聚焦心室表型与随后 AKI 进展的关联</a:t>
            </a:r>
            <a:endParaRPr lang="en-US" sz="3500" dirty="0"/>
          </a:p>
        </p:txBody>
      </p:sp>
      <p:sp>
        <p:nvSpPr>
          <p:cNvPr id="4" name="awf:SLD-4ABCCA3C794D54E8A2D7:key-message"/>
          <p:cNvSpPr/>
          <p:nvPr/>
        </p:nvSpPr>
        <p:spPr>
          <a:xfrm>
            <a:off x="685800" y="1874520"/>
            <a:ext cx="3840480" cy="1645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44546A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该完全合成观察性队列用于评估入组后 24 小时心室功能表型与随后 72 小时 AKI 进展的关联，不代表真实临床证据。</a:t>
            </a:r>
            <a:endParaRPr lang="en-US" sz="2200" dirty="0"/>
          </a:p>
        </p:txBody>
      </p:sp>
      <p:sp>
        <p:nvSpPr>
          <p:cNvPr id="5" name="awf:SLD-4ABCCA3C794D54E8A2D7:chart-note"/>
          <p:cNvSpPr/>
          <p:nvPr/>
        </p:nvSpPr>
        <p:spPr>
          <a:xfrm>
            <a:off x="685800" y="40690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E719B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Editable chart · unit: percent · sample size: not provided</a:t>
            </a:r>
            <a:endParaRPr lang="en-US" sz="1600" dirty="0"/>
          </a:p>
        </p:txBody>
      </p:sp>
      <p:graphicFrame>
        <p:nvGraphicFramePr>
          <p:cNvPr id="6" name="awf:SLD-4ABCCA3C794D54E8A2D7:chart" descr=""/>
          <p:cNvGraphicFramePr/>
          <p:nvPr/>
        </p:nvGraphicFramePr>
        <p:xfrm>
          <a:off x="4983480" y="1828800"/>
          <a:ext cx="6446520" cy="3886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awf:SLD-4ABCCA3C794D54E8A2D7:footer-line"/>
          <p:cNvSpPr/>
          <p:nvPr/>
        </p:nvSpPr>
        <p:spPr>
          <a:xfrm>
            <a:off x="685800" y="6336792"/>
            <a:ext cx="10817352" cy="0"/>
          </a:xfrm>
          <a:prstGeom prst="line">
            <a:avLst/>
          </a:prstGeom>
          <a:noFill/>
          <a:ln w="12700">
            <a:solidFill>
              <a:srgbClr val="E7E6E6"/>
            </a:solidFill>
            <a:prstDash val="solid"/>
          </a:ln>
        </p:spPr>
      </p:sp>
      <p:sp>
        <p:nvSpPr>
          <p:cNvPr id="8" name="awf:SLD-4ABCCA3C794D54E8A2D7:sources"/>
          <p:cNvSpPr/>
          <p:nvPr/>
        </p:nvSpPr>
        <p:spPr>
          <a:xfrm>
            <a:off x="685800" y="6254496"/>
            <a:ext cx="9418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E719B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Sources: SRC-01-main-manuscript-synth-95e4fa25aff0</a:t>
            </a:r>
            <a:endParaRPr lang="en-US" sz="1000" dirty="0"/>
          </a:p>
        </p:txBody>
      </p:sp>
      <p:sp>
        <p:nvSpPr>
          <p:cNvPr id="9" name="awf:SLD-4ABCCA3C794D54E8A2D7:page-number"/>
          <p:cNvSpPr/>
          <p:nvPr/>
        </p:nvSpPr>
        <p:spPr>
          <a:xfrm>
            <a:off x="10789920" y="638251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19B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wf:SLD-5C85C33891BD51B6B8A0:title-accent"/>
          <p:cNvSpPr/>
          <p:nvPr/>
        </p:nvSpPr>
        <p:spPr>
          <a:xfrm>
            <a:off x="685800" y="512064"/>
            <a:ext cx="493776" cy="64008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>
                <a:alpha val="0"/>
              </a:srgbClr>
            </a:solidFill>
            <a:prstDash val="solid"/>
          </a:ln>
        </p:spPr>
      </p:sp>
      <p:sp>
        <p:nvSpPr>
          <p:cNvPr id="3" name="awf:SLD-5C85C33891BD51B6B8A0:title"/>
          <p:cNvSpPr/>
          <p:nvPr/>
        </p:nvSpPr>
        <p:spPr>
          <a:xfrm>
            <a:off x="685800" y="694944"/>
            <a:ext cx="1081735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44546A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Landmark 设计将暴露定义置于结局观察之前</a:t>
            </a:r>
            <a:endParaRPr lang="en-US" sz="3500" dirty="0"/>
          </a:p>
        </p:txBody>
      </p:sp>
      <p:sp>
        <p:nvSpPr>
          <p:cNvPr id="4" name="awf:SLD-5C85C33891BD51B6B8A0:key-message"/>
          <p:cNvSpPr/>
          <p:nvPr/>
        </p:nvSpPr>
        <p:spPr>
          <a:xfrm>
            <a:off x="1051560" y="2331720"/>
            <a:ext cx="10058400" cy="19202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44546A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研究采用 landmark 框架：在入组后 24 小时定义暴露，并观察其后 72 小时 AKI 进展。</a:t>
            </a:r>
            <a:endParaRPr lang="en-US" sz="2500" dirty="0"/>
          </a:p>
        </p:txBody>
      </p:sp>
      <p:sp>
        <p:nvSpPr>
          <p:cNvPr id="5" name="awf:SLD-5C85C33891BD51B6B8A0:footer-line"/>
          <p:cNvSpPr/>
          <p:nvPr/>
        </p:nvSpPr>
        <p:spPr>
          <a:xfrm>
            <a:off x="685800" y="6336792"/>
            <a:ext cx="10817352" cy="0"/>
          </a:xfrm>
          <a:prstGeom prst="line">
            <a:avLst/>
          </a:prstGeom>
          <a:noFill/>
          <a:ln w="12700">
            <a:solidFill>
              <a:srgbClr val="E7E6E6"/>
            </a:solidFill>
            <a:prstDash val="solid"/>
          </a:ln>
        </p:spPr>
      </p:sp>
      <p:sp>
        <p:nvSpPr>
          <p:cNvPr id="6" name="awf:SLD-5C85C33891BD51B6B8A0:sources"/>
          <p:cNvSpPr/>
          <p:nvPr/>
        </p:nvSpPr>
        <p:spPr>
          <a:xfrm>
            <a:off x="685800" y="6254496"/>
            <a:ext cx="9418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E719B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Sources: SRC-02-protocol-synopsis-syn-00480991443d</a:t>
            </a:r>
            <a:endParaRPr lang="en-US" sz="1000" dirty="0"/>
          </a:p>
        </p:txBody>
      </p:sp>
      <p:sp>
        <p:nvSpPr>
          <p:cNvPr id="7" name="awf:SLD-5C85C33891BD51B6B8A0:page-number"/>
          <p:cNvSpPr/>
          <p:nvPr/>
        </p:nvSpPr>
        <p:spPr>
          <a:xfrm>
            <a:off x="10789920" y="638251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19B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wf:SLD-8018D568EBF75F53BBD9:title-accent"/>
          <p:cNvSpPr/>
          <p:nvPr/>
        </p:nvSpPr>
        <p:spPr>
          <a:xfrm>
            <a:off x="685800" y="512064"/>
            <a:ext cx="493776" cy="64008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>
                <a:alpha val="0"/>
              </a:srgbClr>
            </a:solidFill>
            <a:prstDash val="solid"/>
          </a:ln>
        </p:spPr>
      </p:sp>
      <p:sp>
        <p:nvSpPr>
          <p:cNvPr id="3" name="awf:SLD-8018D568EBF75F53BBD9:title"/>
          <p:cNvSpPr/>
          <p:nvPr/>
        </p:nvSpPr>
        <p:spPr>
          <a:xfrm>
            <a:off x="685800" y="694944"/>
            <a:ext cx="1081735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44546A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队列流程明确区分纳入、排除与最终分析人群</a:t>
            </a:r>
            <a:endParaRPr lang="en-US" sz="3500" dirty="0"/>
          </a:p>
        </p:txBody>
      </p:sp>
      <p:sp>
        <p:nvSpPr>
          <p:cNvPr id="4" name="awf:SLD-8018D568EBF75F53BBD9:key-message"/>
          <p:cNvSpPr/>
          <p:nvPr/>
        </p:nvSpPr>
        <p:spPr>
          <a:xfrm>
            <a:off x="685800" y="1828800"/>
            <a:ext cx="3063240" cy="3291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44546A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队列流程图展示完全合成样本的纳入、排除与最终分析人群。</a:t>
            </a:r>
            <a:endParaRPr lang="en-US" sz="2200" dirty="0"/>
          </a:p>
        </p:txBody>
      </p:sp>
      <p:pic>
        <p:nvPicPr>
          <p:cNvPr id="5" name="awf:SLD-8018D568EBF75F53BBD9:source-figure" descr="input/figures/figure_1_cohort_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9080" y="1783080"/>
            <a:ext cx="7178040" cy="4206240"/>
          </a:xfrm>
          <a:prstGeom prst="rect">
            <a:avLst/>
          </a:prstGeom>
        </p:spPr>
      </p:pic>
      <p:sp>
        <p:nvSpPr>
          <p:cNvPr id="6" name="awf:SLD-8018D568EBF75F53BBD9:footer-line"/>
          <p:cNvSpPr/>
          <p:nvPr/>
        </p:nvSpPr>
        <p:spPr>
          <a:xfrm>
            <a:off x="685800" y="6336792"/>
            <a:ext cx="10817352" cy="0"/>
          </a:xfrm>
          <a:prstGeom prst="line">
            <a:avLst/>
          </a:prstGeom>
          <a:noFill/>
          <a:ln w="12700">
            <a:solidFill>
              <a:srgbClr val="E7E6E6"/>
            </a:solidFill>
            <a:prstDash val="solid"/>
          </a:ln>
        </p:spPr>
      </p:sp>
      <p:sp>
        <p:nvSpPr>
          <p:cNvPr id="7" name="awf:SLD-8018D568EBF75F53BBD9:sources"/>
          <p:cNvSpPr/>
          <p:nvPr/>
        </p:nvSpPr>
        <p:spPr>
          <a:xfrm>
            <a:off x="685800" y="6254496"/>
            <a:ext cx="9418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E719B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Sources: SRC-figure-1-cohort-flow-768a1278488a</a:t>
            </a:r>
            <a:endParaRPr lang="en-US" sz="1000" dirty="0"/>
          </a:p>
        </p:txBody>
      </p:sp>
      <p:sp>
        <p:nvSpPr>
          <p:cNvPr id="8" name="awf:SLD-8018D568EBF75F53BBD9:page-number"/>
          <p:cNvSpPr/>
          <p:nvPr/>
        </p:nvSpPr>
        <p:spPr>
          <a:xfrm>
            <a:off x="10789920" y="638251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19B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wf:SLD-5FA02A0DB7905F6592A6:title-accent"/>
          <p:cNvSpPr/>
          <p:nvPr/>
        </p:nvSpPr>
        <p:spPr>
          <a:xfrm>
            <a:off x="685800" y="512064"/>
            <a:ext cx="493776" cy="64008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>
                <a:alpha val="0"/>
              </a:srgbClr>
            </a:solidFill>
            <a:prstDash val="solid"/>
          </a:ln>
        </p:spPr>
      </p:sp>
      <p:sp>
        <p:nvSpPr>
          <p:cNvPr id="3" name="awf:SLD-5FA02A0DB7905F6592A6:title"/>
          <p:cNvSpPr/>
          <p:nvPr/>
        </p:nvSpPr>
        <p:spPr>
          <a:xfrm>
            <a:off x="685800" y="694944"/>
            <a:ext cx="1081735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44546A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四类互斥心室表型构成主要暴露框架</a:t>
            </a:r>
            <a:endParaRPr lang="en-US" sz="3500" dirty="0"/>
          </a:p>
        </p:txBody>
      </p:sp>
      <p:sp>
        <p:nvSpPr>
          <p:cNvPr id="4" name="awf:SLD-5FA02A0DB7905F6592A6:key-message"/>
          <p:cNvSpPr/>
          <p:nvPr/>
        </p:nvSpPr>
        <p:spPr>
          <a:xfrm>
            <a:off x="1051560" y="2331720"/>
            <a:ext cx="10058400" cy="19202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44546A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24 小时时点的心室功能按无功能障碍、单纯 LV、单纯 RV 和双心室功能障碍四类互斥表型登记。</a:t>
            </a:r>
            <a:endParaRPr lang="en-US" sz="2500" dirty="0"/>
          </a:p>
        </p:txBody>
      </p:sp>
      <p:sp>
        <p:nvSpPr>
          <p:cNvPr id="5" name="awf:SLD-5FA02A0DB7905F6592A6:footer-line"/>
          <p:cNvSpPr/>
          <p:nvPr/>
        </p:nvSpPr>
        <p:spPr>
          <a:xfrm>
            <a:off x="685800" y="6336792"/>
            <a:ext cx="10817352" cy="0"/>
          </a:xfrm>
          <a:prstGeom prst="line">
            <a:avLst/>
          </a:prstGeom>
          <a:noFill/>
          <a:ln w="12700">
            <a:solidFill>
              <a:srgbClr val="E7E6E6"/>
            </a:solidFill>
            <a:prstDash val="solid"/>
          </a:ln>
        </p:spPr>
      </p:sp>
      <p:sp>
        <p:nvSpPr>
          <p:cNvPr id="6" name="awf:SLD-5FA02A0DB7905F6592A6:sources"/>
          <p:cNvSpPr/>
          <p:nvPr/>
        </p:nvSpPr>
        <p:spPr>
          <a:xfrm>
            <a:off x="685800" y="6254496"/>
            <a:ext cx="9418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E719B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Sources: SRC-01-main-manuscript-synth-95e4fa25aff0</a:t>
            </a:r>
            <a:endParaRPr lang="en-US" sz="1000" dirty="0"/>
          </a:p>
        </p:txBody>
      </p:sp>
      <p:sp>
        <p:nvSpPr>
          <p:cNvPr id="7" name="awf:SLD-5FA02A0DB7905F6592A6:page-number"/>
          <p:cNvSpPr/>
          <p:nvPr/>
        </p:nvSpPr>
        <p:spPr>
          <a:xfrm>
            <a:off x="10789920" y="638251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19B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wf:SLD-56566EBFE1825B90B959:title-accent"/>
          <p:cNvSpPr/>
          <p:nvPr/>
        </p:nvSpPr>
        <p:spPr>
          <a:xfrm>
            <a:off x="685800" y="512064"/>
            <a:ext cx="493776" cy="64008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>
                <a:alpha val="0"/>
              </a:srgbClr>
            </a:solidFill>
            <a:prstDash val="solid"/>
          </a:ln>
        </p:spPr>
      </p:sp>
      <p:sp>
        <p:nvSpPr>
          <p:cNvPr id="3" name="awf:SLD-56566EBFE1825B90B959:title"/>
          <p:cNvSpPr/>
          <p:nvPr/>
        </p:nvSpPr>
        <p:spPr>
          <a:xfrm>
            <a:off x="685800" y="694944"/>
            <a:ext cx="1081735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44546A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双心室组的合成 AKI 进展发生率最高</a:t>
            </a:r>
            <a:endParaRPr lang="en-US" sz="3500" dirty="0"/>
          </a:p>
        </p:txBody>
      </p:sp>
      <p:sp>
        <p:nvSpPr>
          <p:cNvPr id="4" name="awf:SLD-56566EBFE1825B90B959:key-message"/>
          <p:cNvSpPr/>
          <p:nvPr/>
        </p:nvSpPr>
        <p:spPr>
          <a:xfrm>
            <a:off x="1051560" y="2331720"/>
            <a:ext cx="10058400" cy="19202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44546A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AKI 进展发生率依次为 38/148（25.7%）、27/76（35.5%）、24/54（44.4%）和 34/58（58.6%）。</a:t>
            </a:r>
            <a:endParaRPr lang="en-US" sz="2500" dirty="0"/>
          </a:p>
        </p:txBody>
      </p:sp>
      <p:sp>
        <p:nvSpPr>
          <p:cNvPr id="5" name="awf:SLD-56566EBFE1825B90B959:footer-line"/>
          <p:cNvSpPr/>
          <p:nvPr/>
        </p:nvSpPr>
        <p:spPr>
          <a:xfrm>
            <a:off x="685800" y="6336792"/>
            <a:ext cx="10817352" cy="0"/>
          </a:xfrm>
          <a:prstGeom prst="line">
            <a:avLst/>
          </a:prstGeom>
          <a:noFill/>
          <a:ln w="12700">
            <a:solidFill>
              <a:srgbClr val="E7E6E6"/>
            </a:solidFill>
            <a:prstDash val="solid"/>
          </a:ln>
        </p:spPr>
      </p:sp>
      <p:sp>
        <p:nvSpPr>
          <p:cNvPr id="6" name="awf:SLD-56566EBFE1825B90B959:sources"/>
          <p:cNvSpPr/>
          <p:nvPr/>
        </p:nvSpPr>
        <p:spPr>
          <a:xfrm>
            <a:off x="685800" y="6254496"/>
            <a:ext cx="9418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E719B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Sources: SRC-02-cohort-summary-1dbb58326345</a:t>
            </a:r>
            <a:endParaRPr lang="en-US" sz="1000" dirty="0"/>
          </a:p>
        </p:txBody>
      </p:sp>
      <p:sp>
        <p:nvSpPr>
          <p:cNvPr id="7" name="awf:SLD-56566EBFE1825B90B959:page-number"/>
          <p:cNvSpPr/>
          <p:nvPr/>
        </p:nvSpPr>
        <p:spPr>
          <a:xfrm>
            <a:off x="10789920" y="638251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19B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wf:SLD-C189C2D15E9D5599B044:title-accent"/>
          <p:cNvSpPr/>
          <p:nvPr/>
        </p:nvSpPr>
        <p:spPr>
          <a:xfrm>
            <a:off x="685800" y="512064"/>
            <a:ext cx="493776" cy="64008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>
                <a:alpha val="0"/>
              </a:srgbClr>
            </a:solidFill>
            <a:prstDash val="solid"/>
          </a:ln>
        </p:spPr>
      </p:sp>
      <p:sp>
        <p:nvSpPr>
          <p:cNvPr id="3" name="awf:SLD-C189C2D15E9D5599B044:title"/>
          <p:cNvSpPr/>
          <p:nvPr/>
        </p:nvSpPr>
        <p:spPr>
          <a:xfrm>
            <a:off x="685800" y="694944"/>
            <a:ext cx="1081735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44546A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单纯 LV 的估计方向为正，但不确定性仍跨越无效值</a:t>
            </a:r>
            <a:endParaRPr lang="en-US" sz="3500" dirty="0"/>
          </a:p>
        </p:txBody>
      </p:sp>
      <p:sp>
        <p:nvSpPr>
          <p:cNvPr id="4" name="awf:SLD-C189C2D15E9D5599B044:key-message"/>
          <p:cNvSpPr/>
          <p:nvPr/>
        </p:nvSpPr>
        <p:spPr>
          <a:xfrm>
            <a:off x="1051560" y="2331720"/>
            <a:ext cx="10058400" cy="19202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44546A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与无心室功能障碍相比，单纯 LV 的调整 OR 为 1.42（95% CI 0.78–2.59，P=0.247）；区间跨越 1。</a:t>
            </a:r>
            <a:endParaRPr lang="en-US" sz="2500" dirty="0"/>
          </a:p>
        </p:txBody>
      </p:sp>
      <p:sp>
        <p:nvSpPr>
          <p:cNvPr id="5" name="awf:SLD-C189C2D15E9D5599B044:footer-line"/>
          <p:cNvSpPr/>
          <p:nvPr/>
        </p:nvSpPr>
        <p:spPr>
          <a:xfrm>
            <a:off x="685800" y="6336792"/>
            <a:ext cx="10817352" cy="0"/>
          </a:xfrm>
          <a:prstGeom prst="line">
            <a:avLst/>
          </a:prstGeom>
          <a:noFill/>
          <a:ln w="12700">
            <a:solidFill>
              <a:srgbClr val="E7E6E6"/>
            </a:solidFill>
            <a:prstDash val="solid"/>
          </a:ln>
        </p:spPr>
      </p:sp>
      <p:sp>
        <p:nvSpPr>
          <p:cNvPr id="6" name="awf:SLD-C189C2D15E9D5599B044:sources"/>
          <p:cNvSpPr/>
          <p:nvPr/>
        </p:nvSpPr>
        <p:spPr>
          <a:xfrm>
            <a:off x="685800" y="6254496"/>
            <a:ext cx="9418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E719B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Sources: SRC-03-model-results-60094a3fa178</a:t>
            </a:r>
            <a:endParaRPr lang="en-US" sz="1000" dirty="0"/>
          </a:p>
        </p:txBody>
      </p:sp>
      <p:sp>
        <p:nvSpPr>
          <p:cNvPr id="7" name="awf:SLD-C189C2D15E9D5599B044:page-number"/>
          <p:cNvSpPr/>
          <p:nvPr/>
        </p:nvSpPr>
        <p:spPr>
          <a:xfrm>
            <a:off x="10789920" y="638251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19B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wf:SLD-D5B59FFA31B4585E943B:title-accent"/>
          <p:cNvSpPr/>
          <p:nvPr/>
        </p:nvSpPr>
        <p:spPr>
          <a:xfrm>
            <a:off x="685800" y="512064"/>
            <a:ext cx="493776" cy="64008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>
                <a:alpha val="0"/>
              </a:srgbClr>
            </a:solidFill>
            <a:prstDash val="solid"/>
          </a:ln>
        </p:spPr>
      </p:sp>
      <p:sp>
        <p:nvSpPr>
          <p:cNvPr id="3" name="awf:SLD-D5B59FFA31B4585E943B:title"/>
          <p:cNvSpPr/>
          <p:nvPr/>
        </p:nvSpPr>
        <p:spPr>
          <a:xfrm>
            <a:off x="685800" y="694944"/>
            <a:ext cx="1081735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44546A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单纯 RV 与更高 AKI 进展 odds 存在统计关联</a:t>
            </a:r>
            <a:endParaRPr lang="en-US" sz="3500" dirty="0"/>
          </a:p>
        </p:txBody>
      </p:sp>
      <p:sp>
        <p:nvSpPr>
          <p:cNvPr id="4" name="awf:SLD-D5B59FFA31B4585E943B:key-message"/>
          <p:cNvSpPr/>
          <p:nvPr/>
        </p:nvSpPr>
        <p:spPr>
          <a:xfrm>
            <a:off x="1051560" y="2331720"/>
            <a:ext cx="10058400" cy="19202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44546A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与无心室功能障碍相比，单纯 RV 与更高 AKI 进展 odds 相关：调整 OR 2.06（95% CI 1.05–4.03，P=0.036）。</a:t>
            </a:r>
            <a:endParaRPr lang="en-US" sz="2500" dirty="0"/>
          </a:p>
        </p:txBody>
      </p:sp>
      <p:sp>
        <p:nvSpPr>
          <p:cNvPr id="5" name="awf:SLD-D5B59FFA31B4585E943B:footer-line"/>
          <p:cNvSpPr/>
          <p:nvPr/>
        </p:nvSpPr>
        <p:spPr>
          <a:xfrm>
            <a:off x="685800" y="6336792"/>
            <a:ext cx="10817352" cy="0"/>
          </a:xfrm>
          <a:prstGeom prst="line">
            <a:avLst/>
          </a:prstGeom>
          <a:noFill/>
          <a:ln w="12700">
            <a:solidFill>
              <a:srgbClr val="E7E6E6"/>
            </a:solidFill>
            <a:prstDash val="solid"/>
          </a:ln>
        </p:spPr>
      </p:sp>
      <p:sp>
        <p:nvSpPr>
          <p:cNvPr id="6" name="awf:SLD-D5B59FFA31B4585E943B:sources"/>
          <p:cNvSpPr/>
          <p:nvPr/>
        </p:nvSpPr>
        <p:spPr>
          <a:xfrm>
            <a:off x="685800" y="6254496"/>
            <a:ext cx="9418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E719B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Sources: SRC-03-model-results-60094a3fa178</a:t>
            </a:r>
            <a:endParaRPr lang="en-US" sz="1000" dirty="0"/>
          </a:p>
        </p:txBody>
      </p:sp>
      <p:sp>
        <p:nvSpPr>
          <p:cNvPr id="7" name="awf:SLD-D5B59FFA31B4585E943B:page-number"/>
          <p:cNvSpPr/>
          <p:nvPr/>
        </p:nvSpPr>
        <p:spPr>
          <a:xfrm>
            <a:off x="10789920" y="638251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19B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wf:SLD-16F80628E010516E80BC:title-accent"/>
          <p:cNvSpPr/>
          <p:nvPr/>
        </p:nvSpPr>
        <p:spPr>
          <a:xfrm>
            <a:off x="685800" y="512064"/>
            <a:ext cx="493776" cy="64008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>
                <a:alpha val="0"/>
              </a:srgbClr>
            </a:solidFill>
            <a:prstDash val="solid"/>
          </a:ln>
        </p:spPr>
      </p:sp>
      <p:sp>
        <p:nvSpPr>
          <p:cNvPr id="3" name="awf:SLD-16F80628E010516E80BC:title"/>
          <p:cNvSpPr/>
          <p:nvPr/>
        </p:nvSpPr>
        <p:spPr>
          <a:xfrm>
            <a:off x="685800" y="694944"/>
            <a:ext cx="1081735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44546A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双心室功能障碍显示四组中最强的合成统计关联</a:t>
            </a:r>
            <a:endParaRPr lang="en-US" sz="3500" dirty="0"/>
          </a:p>
        </p:txBody>
      </p:sp>
      <p:sp>
        <p:nvSpPr>
          <p:cNvPr id="4" name="awf:SLD-16F80628E010516E80BC:key-message"/>
          <p:cNvSpPr/>
          <p:nvPr/>
        </p:nvSpPr>
        <p:spPr>
          <a:xfrm>
            <a:off x="1051560" y="2331720"/>
            <a:ext cx="10058400" cy="19202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44546A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双心室功能障碍在四组中显示最强关联：调整 OR 3.61（95% CI 1.91–6.84，P=0.0001）。</a:t>
            </a:r>
            <a:endParaRPr lang="en-US" sz="2500" dirty="0"/>
          </a:p>
        </p:txBody>
      </p:sp>
      <p:sp>
        <p:nvSpPr>
          <p:cNvPr id="5" name="awf:SLD-16F80628E010516E80BC:footer-line"/>
          <p:cNvSpPr/>
          <p:nvPr/>
        </p:nvSpPr>
        <p:spPr>
          <a:xfrm>
            <a:off x="685800" y="6336792"/>
            <a:ext cx="10817352" cy="0"/>
          </a:xfrm>
          <a:prstGeom prst="line">
            <a:avLst/>
          </a:prstGeom>
          <a:noFill/>
          <a:ln w="12700">
            <a:solidFill>
              <a:srgbClr val="E7E6E6"/>
            </a:solidFill>
            <a:prstDash val="solid"/>
          </a:ln>
        </p:spPr>
      </p:sp>
      <p:sp>
        <p:nvSpPr>
          <p:cNvPr id="6" name="awf:SLD-16F80628E010516E80BC:sources"/>
          <p:cNvSpPr/>
          <p:nvPr/>
        </p:nvSpPr>
        <p:spPr>
          <a:xfrm>
            <a:off x="685800" y="6254496"/>
            <a:ext cx="9418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E719B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Sources: SRC-03-model-results-60094a3fa178</a:t>
            </a:r>
            <a:endParaRPr lang="en-US" sz="1000" dirty="0"/>
          </a:p>
        </p:txBody>
      </p:sp>
      <p:sp>
        <p:nvSpPr>
          <p:cNvPr id="7" name="awf:SLD-16F80628E010516E80BC:page-number"/>
          <p:cNvSpPr/>
          <p:nvPr/>
        </p:nvSpPr>
        <p:spPr>
          <a:xfrm>
            <a:off x="10789920" y="638251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19B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wf:SLD-EDBE6B706AA0576EB52B:title-accent"/>
          <p:cNvSpPr/>
          <p:nvPr/>
        </p:nvSpPr>
        <p:spPr>
          <a:xfrm>
            <a:off x="685800" y="512064"/>
            <a:ext cx="493776" cy="64008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>
                <a:alpha val="0"/>
              </a:srgbClr>
            </a:solidFill>
            <a:prstDash val="solid"/>
          </a:ln>
        </p:spPr>
      </p:sp>
      <p:sp>
        <p:nvSpPr>
          <p:cNvPr id="3" name="awf:SLD-EDBE6B706AA0576EB52B:title"/>
          <p:cNvSpPr/>
          <p:nvPr/>
        </p:nvSpPr>
        <p:spPr>
          <a:xfrm>
            <a:off x="685800" y="694944"/>
            <a:ext cx="1081735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44546A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肌酐轨迹提供描述性时间变化信息</a:t>
            </a:r>
            <a:endParaRPr lang="en-US" sz="3500" dirty="0"/>
          </a:p>
        </p:txBody>
      </p:sp>
      <p:sp>
        <p:nvSpPr>
          <p:cNvPr id="4" name="awf:SLD-EDBE6B706AA0576EB52B:key-message"/>
          <p:cNvSpPr/>
          <p:nvPr/>
        </p:nvSpPr>
        <p:spPr>
          <a:xfrm>
            <a:off x="685800" y="1828800"/>
            <a:ext cx="3063240" cy="3291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44546A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肌酐轨迹仅描述各合成表型组随时间的变化，不用于推断治疗效果。</a:t>
            </a:r>
            <a:endParaRPr lang="en-US" sz="2200" dirty="0"/>
          </a:p>
        </p:txBody>
      </p:sp>
      <p:pic>
        <p:nvPicPr>
          <p:cNvPr id="5" name="awf:SLD-EDBE6B706AA0576EB52B:source-figure" descr="input/figures/figure_3_creatinine_traject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9080" y="1783080"/>
            <a:ext cx="7178040" cy="4206240"/>
          </a:xfrm>
          <a:prstGeom prst="rect">
            <a:avLst/>
          </a:prstGeom>
        </p:spPr>
      </p:pic>
      <p:sp>
        <p:nvSpPr>
          <p:cNvPr id="6" name="awf:SLD-EDBE6B706AA0576EB52B:footer-line"/>
          <p:cNvSpPr/>
          <p:nvPr/>
        </p:nvSpPr>
        <p:spPr>
          <a:xfrm>
            <a:off x="685800" y="6336792"/>
            <a:ext cx="10817352" cy="0"/>
          </a:xfrm>
          <a:prstGeom prst="line">
            <a:avLst/>
          </a:prstGeom>
          <a:noFill/>
          <a:ln w="12700">
            <a:solidFill>
              <a:srgbClr val="E7E6E6"/>
            </a:solidFill>
            <a:prstDash val="solid"/>
          </a:ln>
        </p:spPr>
      </p:sp>
      <p:sp>
        <p:nvSpPr>
          <p:cNvPr id="7" name="awf:SLD-EDBE6B706AA0576EB52B:sources"/>
          <p:cNvSpPr/>
          <p:nvPr/>
        </p:nvSpPr>
        <p:spPr>
          <a:xfrm>
            <a:off x="685800" y="6254496"/>
            <a:ext cx="9418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E719B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Sources: SRC-figure-3-creatinine-traj-a6ac74f7bbf8</a:t>
            </a:r>
            <a:endParaRPr lang="en-US" sz="1000" dirty="0"/>
          </a:p>
        </p:txBody>
      </p:sp>
      <p:sp>
        <p:nvSpPr>
          <p:cNvPr id="8" name="awf:SLD-EDBE6B706AA0576EB52B:page-number"/>
          <p:cNvSpPr/>
          <p:nvPr/>
        </p:nvSpPr>
        <p:spPr>
          <a:xfrm>
            <a:off x="10789920" y="638251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19B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wf:SLD-EE6EC72C1491573D8907:title-accent"/>
          <p:cNvSpPr/>
          <p:nvPr/>
        </p:nvSpPr>
        <p:spPr>
          <a:xfrm>
            <a:off x="685800" y="512064"/>
            <a:ext cx="493776" cy="64008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>
                <a:alpha val="0"/>
              </a:srgbClr>
            </a:solidFill>
            <a:prstDash val="solid"/>
          </a:ln>
        </p:spPr>
      </p:sp>
      <p:sp>
        <p:nvSpPr>
          <p:cNvPr id="3" name="awf:SLD-EE6EC72C1491573D8907:title"/>
          <p:cNvSpPr/>
          <p:nvPr/>
        </p:nvSpPr>
        <p:spPr>
          <a:xfrm>
            <a:off x="685800" y="694944"/>
            <a:ext cx="1081735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44546A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双心室表型与合成 28 天死亡 odds 较高相关</a:t>
            </a:r>
            <a:endParaRPr lang="en-US" sz="3500" dirty="0"/>
          </a:p>
        </p:txBody>
      </p:sp>
      <p:sp>
        <p:nvSpPr>
          <p:cNvPr id="4" name="awf:SLD-EE6EC72C1491573D8907:key-message"/>
          <p:cNvSpPr/>
          <p:nvPr/>
        </p:nvSpPr>
        <p:spPr>
          <a:xfrm>
            <a:off x="1051560" y="2331720"/>
            <a:ext cx="10058400" cy="19202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44546A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双心室功能障碍与 28 天死亡的更高 odds 相关：调整 OR 2.18（95% CI 1.12–4.25，P=0.022）。</a:t>
            </a:r>
            <a:endParaRPr lang="en-US" sz="2500" dirty="0"/>
          </a:p>
        </p:txBody>
      </p:sp>
      <p:sp>
        <p:nvSpPr>
          <p:cNvPr id="5" name="awf:SLD-EE6EC72C1491573D8907:footer-line"/>
          <p:cNvSpPr/>
          <p:nvPr/>
        </p:nvSpPr>
        <p:spPr>
          <a:xfrm>
            <a:off x="685800" y="6336792"/>
            <a:ext cx="10817352" cy="0"/>
          </a:xfrm>
          <a:prstGeom prst="line">
            <a:avLst/>
          </a:prstGeom>
          <a:noFill/>
          <a:ln w="12700">
            <a:solidFill>
              <a:srgbClr val="E7E6E6"/>
            </a:solidFill>
            <a:prstDash val="solid"/>
          </a:ln>
        </p:spPr>
      </p:sp>
      <p:sp>
        <p:nvSpPr>
          <p:cNvPr id="6" name="awf:SLD-EE6EC72C1491573D8907:sources"/>
          <p:cNvSpPr/>
          <p:nvPr/>
        </p:nvSpPr>
        <p:spPr>
          <a:xfrm>
            <a:off x="685800" y="6254496"/>
            <a:ext cx="9418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E719B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Sources: SRC-03-model-results-60094a3fa178</a:t>
            </a:r>
            <a:endParaRPr lang="en-US" sz="1000" dirty="0"/>
          </a:p>
        </p:txBody>
      </p:sp>
      <p:sp>
        <p:nvSpPr>
          <p:cNvPr id="7" name="awf:SLD-EE6EC72C1491573D8907:page-number"/>
          <p:cNvSpPr/>
          <p:nvPr/>
        </p:nvSpPr>
        <p:spPr>
          <a:xfrm>
            <a:off x="10789920" y="638251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19B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wf:SLD-3F0AD88B772E5C7FA7E0:title-accent"/>
          <p:cNvSpPr/>
          <p:nvPr/>
        </p:nvSpPr>
        <p:spPr>
          <a:xfrm>
            <a:off x="685800" y="512064"/>
            <a:ext cx="493776" cy="64008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>
                <a:alpha val="0"/>
              </a:srgbClr>
            </a:solidFill>
            <a:prstDash val="solid"/>
          </a:ln>
        </p:spPr>
      </p:sp>
      <p:sp>
        <p:nvSpPr>
          <p:cNvPr id="3" name="awf:SLD-3F0AD88B772E5C7FA7E0:title"/>
          <p:cNvSpPr/>
          <p:nvPr/>
        </p:nvSpPr>
        <p:spPr>
          <a:xfrm>
            <a:off x="685800" y="694944"/>
            <a:ext cx="1081735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44546A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敏感性分析的关联方向与主分析一致</a:t>
            </a:r>
            <a:endParaRPr lang="en-US" sz="3500" dirty="0"/>
          </a:p>
        </p:txBody>
      </p:sp>
      <p:sp>
        <p:nvSpPr>
          <p:cNvPr id="4" name="awf:SLD-3F0AD88B772E5C7FA7E0:key-message"/>
          <p:cNvSpPr/>
          <p:nvPr/>
        </p:nvSpPr>
        <p:spPr>
          <a:xfrm>
            <a:off x="1051560" y="2331720"/>
            <a:ext cx="10058400" cy="19202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44546A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四项敏感性分析的双心室调整 OR 为 3.54, 3.61, 3.27, 3.42，方向与主分析一致。</a:t>
            </a:r>
            <a:endParaRPr lang="en-US" sz="2500" dirty="0"/>
          </a:p>
        </p:txBody>
      </p:sp>
      <p:sp>
        <p:nvSpPr>
          <p:cNvPr id="5" name="awf:SLD-3F0AD88B772E5C7FA7E0:footer-line"/>
          <p:cNvSpPr/>
          <p:nvPr/>
        </p:nvSpPr>
        <p:spPr>
          <a:xfrm>
            <a:off x="685800" y="6336792"/>
            <a:ext cx="10817352" cy="0"/>
          </a:xfrm>
          <a:prstGeom prst="line">
            <a:avLst/>
          </a:prstGeom>
          <a:noFill/>
          <a:ln w="12700">
            <a:solidFill>
              <a:srgbClr val="E7E6E6"/>
            </a:solidFill>
            <a:prstDash val="solid"/>
          </a:ln>
        </p:spPr>
      </p:sp>
      <p:sp>
        <p:nvSpPr>
          <p:cNvPr id="6" name="awf:SLD-3F0AD88B772E5C7FA7E0:sources"/>
          <p:cNvSpPr/>
          <p:nvPr/>
        </p:nvSpPr>
        <p:spPr>
          <a:xfrm>
            <a:off x="685800" y="6254496"/>
            <a:ext cx="9418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E719B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Sources: SRC-04-sensitivity-results-5ccfe8975248</a:t>
            </a:r>
            <a:endParaRPr lang="en-US" sz="1000" dirty="0"/>
          </a:p>
        </p:txBody>
      </p:sp>
      <p:sp>
        <p:nvSpPr>
          <p:cNvPr id="7" name="awf:SLD-3F0AD88B772E5C7FA7E0:page-number"/>
          <p:cNvSpPr/>
          <p:nvPr/>
        </p:nvSpPr>
        <p:spPr>
          <a:xfrm>
            <a:off x="10789920" y="638251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19B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wf:SLD-7824DF78880858128303:title-accent"/>
          <p:cNvSpPr/>
          <p:nvPr/>
        </p:nvSpPr>
        <p:spPr>
          <a:xfrm>
            <a:off x="685800" y="512064"/>
            <a:ext cx="493776" cy="64008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>
                <a:alpha val="0"/>
              </a:srgbClr>
            </a:solidFill>
            <a:prstDash val="solid"/>
          </a:ln>
        </p:spPr>
      </p:sp>
      <p:sp>
        <p:nvSpPr>
          <p:cNvPr id="3" name="awf:SLD-7824DF78880858128303:title"/>
          <p:cNvSpPr/>
          <p:nvPr/>
        </p:nvSpPr>
        <p:spPr>
          <a:xfrm>
            <a:off x="685800" y="694944"/>
            <a:ext cx="1081735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44546A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预设亚组未见异质性证据</a:t>
            </a:r>
            <a:endParaRPr lang="en-US" sz="3500" dirty="0"/>
          </a:p>
        </p:txBody>
      </p:sp>
      <p:sp>
        <p:nvSpPr>
          <p:cNvPr id="4" name="awf:SLD-7824DF78880858128303:key-message"/>
          <p:cNvSpPr/>
          <p:nvPr/>
        </p:nvSpPr>
        <p:spPr>
          <a:xfrm>
            <a:off x="1051560" y="2331720"/>
            <a:ext cx="10058400" cy="19202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44546A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所有预设亚组的 interaction P 均不支持异质性（最小 interaction P=0.41）。</a:t>
            </a:r>
            <a:endParaRPr lang="en-US" sz="2500" dirty="0"/>
          </a:p>
        </p:txBody>
      </p:sp>
      <p:sp>
        <p:nvSpPr>
          <p:cNvPr id="5" name="awf:SLD-7824DF78880858128303:footer-line"/>
          <p:cNvSpPr/>
          <p:nvPr/>
        </p:nvSpPr>
        <p:spPr>
          <a:xfrm>
            <a:off x="685800" y="6336792"/>
            <a:ext cx="10817352" cy="0"/>
          </a:xfrm>
          <a:prstGeom prst="line">
            <a:avLst/>
          </a:prstGeom>
          <a:noFill/>
          <a:ln w="12700">
            <a:solidFill>
              <a:srgbClr val="E7E6E6"/>
            </a:solidFill>
            <a:prstDash val="solid"/>
          </a:ln>
        </p:spPr>
      </p:sp>
      <p:sp>
        <p:nvSpPr>
          <p:cNvPr id="6" name="awf:SLD-7824DF78880858128303:sources"/>
          <p:cNvSpPr/>
          <p:nvPr/>
        </p:nvSpPr>
        <p:spPr>
          <a:xfrm>
            <a:off x="685800" y="6254496"/>
            <a:ext cx="9418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E719B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Sources: SRC-05-subgroup-results-2615cf06f550</a:t>
            </a:r>
            <a:endParaRPr lang="en-US" sz="1000" dirty="0"/>
          </a:p>
        </p:txBody>
      </p:sp>
      <p:sp>
        <p:nvSpPr>
          <p:cNvPr id="7" name="awf:SLD-7824DF78880858128303:page-number"/>
          <p:cNvSpPr/>
          <p:nvPr/>
        </p:nvSpPr>
        <p:spPr>
          <a:xfrm>
            <a:off x="10789920" y="638251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19B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wf:SLD-700E716D00235B2E82ED:title-accent"/>
          <p:cNvSpPr/>
          <p:nvPr/>
        </p:nvSpPr>
        <p:spPr>
          <a:xfrm>
            <a:off x="685800" y="512064"/>
            <a:ext cx="493776" cy="64008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>
                <a:alpha val="0"/>
              </a:srgbClr>
            </a:solidFill>
            <a:prstDash val="solid"/>
          </a:ln>
        </p:spPr>
      </p:sp>
      <p:sp>
        <p:nvSpPr>
          <p:cNvPr id="3" name="awf:SLD-700E716D00235B2E82ED:title"/>
          <p:cNvSpPr/>
          <p:nvPr/>
        </p:nvSpPr>
        <p:spPr>
          <a:xfrm>
            <a:off x="685800" y="694944"/>
            <a:ext cx="1081735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44546A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BNP 缺失超过 20%，未进入主调整模型</a:t>
            </a:r>
            <a:endParaRPr lang="en-US" sz="3500" dirty="0"/>
          </a:p>
        </p:txBody>
      </p:sp>
      <p:sp>
        <p:nvSpPr>
          <p:cNvPr id="4" name="awf:SLD-700E716D00235B2E82ED:key-message"/>
          <p:cNvSpPr/>
          <p:nvPr/>
        </p:nvSpPr>
        <p:spPr>
          <a:xfrm>
            <a:off x="1051560" y="2331720"/>
            <a:ext cx="10058400" cy="19202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44546A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BNP 缺失 81 例（24.1%），超过 20%，因此未进入冻结的主调整模型变量列表。</a:t>
            </a:r>
            <a:endParaRPr lang="en-US" sz="2500" dirty="0"/>
          </a:p>
        </p:txBody>
      </p:sp>
      <p:sp>
        <p:nvSpPr>
          <p:cNvPr id="5" name="awf:SLD-700E716D00235B2E82ED:footer-line"/>
          <p:cNvSpPr/>
          <p:nvPr/>
        </p:nvSpPr>
        <p:spPr>
          <a:xfrm>
            <a:off x="685800" y="6336792"/>
            <a:ext cx="10817352" cy="0"/>
          </a:xfrm>
          <a:prstGeom prst="line">
            <a:avLst/>
          </a:prstGeom>
          <a:noFill/>
          <a:ln w="12700">
            <a:solidFill>
              <a:srgbClr val="E7E6E6"/>
            </a:solidFill>
            <a:prstDash val="solid"/>
          </a:ln>
        </p:spPr>
      </p:sp>
      <p:sp>
        <p:nvSpPr>
          <p:cNvPr id="6" name="awf:SLD-700E716D00235B2E82ED:sources"/>
          <p:cNvSpPr/>
          <p:nvPr/>
        </p:nvSpPr>
        <p:spPr>
          <a:xfrm>
            <a:off x="685800" y="6254496"/>
            <a:ext cx="9418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E719B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Sources: SRC-06-missingness-52d547971cf7</a:t>
            </a:r>
            <a:endParaRPr lang="en-US" sz="1000" dirty="0"/>
          </a:p>
        </p:txBody>
      </p:sp>
      <p:sp>
        <p:nvSpPr>
          <p:cNvPr id="7" name="awf:SLD-700E716D00235B2E82ED:page-number"/>
          <p:cNvSpPr/>
          <p:nvPr/>
        </p:nvSpPr>
        <p:spPr>
          <a:xfrm>
            <a:off x="10789920" y="638251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19B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wf:SLD-CAEFF30DBD495361B959:title-accent"/>
          <p:cNvSpPr/>
          <p:nvPr/>
        </p:nvSpPr>
        <p:spPr>
          <a:xfrm>
            <a:off x="685800" y="512064"/>
            <a:ext cx="493776" cy="64008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>
                <a:alpha val="0"/>
              </a:srgbClr>
            </a:solidFill>
            <a:prstDash val="solid"/>
          </a:ln>
        </p:spPr>
      </p:sp>
      <p:sp>
        <p:nvSpPr>
          <p:cNvPr id="3" name="awf:SLD-CAEFF30DBD495361B959:title"/>
          <p:cNvSpPr/>
          <p:nvPr/>
        </p:nvSpPr>
        <p:spPr>
          <a:xfrm>
            <a:off x="685800" y="694944"/>
            <a:ext cx="1081735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44546A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冲突已按 canonical source 解决，缺失信息仍保留待确认</a:t>
            </a:r>
            <a:endParaRPr lang="en-US" sz="3500" dirty="0"/>
          </a:p>
        </p:txBody>
      </p:sp>
      <p:sp>
        <p:nvSpPr>
          <p:cNvPr id="4" name="awf:SLD-CAEFF30DBD495361B959:key-message"/>
          <p:cNvSpPr/>
          <p:nvPr/>
        </p:nvSpPr>
        <p:spPr>
          <a:xfrm>
            <a:off x="1051560" y="2331720"/>
            <a:ext cx="10058400" cy="19202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44546A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跨文件审计检出 2 处数字冲突并按 canonical source 解决；[ETHICS_ID_REQUIRED]、[REF_PENDING_04] 仍为 INFORMATION_REQUIRED。</a:t>
            </a:r>
            <a:endParaRPr lang="en-US" sz="2500" dirty="0"/>
          </a:p>
        </p:txBody>
      </p:sp>
      <p:sp>
        <p:nvSpPr>
          <p:cNvPr id="5" name="awf:SLD-CAEFF30DBD495361B959:footer-line"/>
          <p:cNvSpPr/>
          <p:nvPr/>
        </p:nvSpPr>
        <p:spPr>
          <a:xfrm>
            <a:off x="685800" y="6336792"/>
            <a:ext cx="10817352" cy="0"/>
          </a:xfrm>
          <a:prstGeom prst="line">
            <a:avLst/>
          </a:prstGeom>
          <a:noFill/>
          <a:ln w="12700">
            <a:solidFill>
              <a:srgbClr val="E7E6E6"/>
            </a:solidFill>
            <a:prstDash val="solid"/>
          </a:ln>
        </p:spPr>
      </p:sp>
      <p:sp>
        <p:nvSpPr>
          <p:cNvPr id="6" name="awf:SLD-CAEFF30DBD495361B959:sources"/>
          <p:cNvSpPr/>
          <p:nvPr/>
        </p:nvSpPr>
        <p:spPr>
          <a:xfrm>
            <a:off x="685800" y="6254496"/>
            <a:ext cx="9418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E719B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Sources: SRC-reference-status-ca4e36a12f8d</a:t>
            </a:r>
            <a:endParaRPr lang="en-US" sz="1000" dirty="0"/>
          </a:p>
        </p:txBody>
      </p:sp>
      <p:sp>
        <p:nvSpPr>
          <p:cNvPr id="7" name="awf:SLD-CAEFF30DBD495361B959:page-number"/>
          <p:cNvSpPr/>
          <p:nvPr/>
        </p:nvSpPr>
        <p:spPr>
          <a:xfrm>
            <a:off x="10789920" y="638251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19B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wf:SLD-C81119DA20855F38A3D6:title-accent"/>
          <p:cNvSpPr/>
          <p:nvPr/>
        </p:nvSpPr>
        <p:spPr>
          <a:xfrm>
            <a:off x="685800" y="512064"/>
            <a:ext cx="493776" cy="64008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>
                <a:alpha val="0"/>
              </a:srgbClr>
            </a:solidFill>
            <a:prstDash val="solid"/>
          </a:ln>
        </p:spPr>
      </p:sp>
      <p:sp>
        <p:nvSpPr>
          <p:cNvPr id="3" name="awf:SLD-C81119DA20855F38A3D6:title"/>
          <p:cNvSpPr/>
          <p:nvPr/>
        </p:nvSpPr>
        <p:spPr>
          <a:xfrm>
            <a:off x="685800" y="694944"/>
            <a:ext cx="1081735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44546A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所有解释均须保留原始证据强度</a:t>
            </a:r>
            <a:endParaRPr lang="en-US" sz="3500" dirty="0"/>
          </a:p>
        </p:txBody>
      </p:sp>
      <p:sp>
        <p:nvSpPr>
          <p:cNvPr id="4" name="awf:SLD-C81119DA20855F38A3D6:allowed-label"/>
          <p:cNvSpPr/>
          <p:nvPr/>
        </p:nvSpPr>
        <p:spPr>
          <a:xfrm>
            <a:off x="685800" y="19659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D7D31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Allowed</a:t>
            </a:r>
            <a:endParaRPr lang="en-US" sz="2400" dirty="0"/>
          </a:p>
        </p:txBody>
      </p:sp>
      <p:sp>
        <p:nvSpPr>
          <p:cNvPr id="5" name="awf:SLD-C81119DA20855F38A3D6:allowed-body"/>
          <p:cNvSpPr/>
          <p:nvPr/>
        </p:nvSpPr>
        <p:spPr>
          <a:xfrm>
            <a:off x="685800" y="2606040"/>
            <a:ext cx="4389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44546A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Preserve the study design, uncertainty, and source wording.</a:t>
            </a:r>
            <a:endParaRPr lang="en-US" sz="2000" dirty="0"/>
          </a:p>
        </p:txBody>
      </p:sp>
      <p:sp>
        <p:nvSpPr>
          <p:cNvPr id="6" name="awf:SLD-C81119DA20855F38A3D6:divider"/>
          <p:cNvSpPr/>
          <p:nvPr/>
        </p:nvSpPr>
        <p:spPr>
          <a:xfrm>
            <a:off x="5897880" y="1874520"/>
            <a:ext cx="0" cy="3383280"/>
          </a:xfrm>
          <a:prstGeom prst="line">
            <a:avLst/>
          </a:prstGeom>
          <a:noFill/>
          <a:ln w="25400">
            <a:solidFill>
              <a:srgbClr val="E7E6E6"/>
            </a:solidFill>
            <a:prstDash val="solid"/>
          </a:ln>
        </p:spPr>
      </p:sp>
      <p:sp>
        <p:nvSpPr>
          <p:cNvPr id="7" name="awf:SLD-C81119DA20855F38A3D6:prohibited-label"/>
          <p:cNvSpPr/>
          <p:nvPr/>
        </p:nvSpPr>
        <p:spPr>
          <a:xfrm>
            <a:off x="6537960" y="19659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3866A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Not allowed</a:t>
            </a:r>
            <a:endParaRPr lang="en-US" sz="2400" dirty="0"/>
          </a:p>
        </p:txBody>
      </p:sp>
      <p:sp>
        <p:nvSpPr>
          <p:cNvPr id="8" name="awf:SLD-C81119DA20855F38A3D6:prohibited-body"/>
          <p:cNvSpPr/>
          <p:nvPr/>
        </p:nvSpPr>
        <p:spPr>
          <a:xfrm>
            <a:off x="6537960" y="2606040"/>
            <a:ext cx="4389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44546A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Do not upgrade association or computational inference into causal, mechanistic, or clinical proof.</a:t>
            </a:r>
            <a:endParaRPr lang="en-US" sz="2000" dirty="0"/>
          </a:p>
        </p:txBody>
      </p:sp>
      <p:sp>
        <p:nvSpPr>
          <p:cNvPr id="9" name="awf:SLD-C81119DA20855F38A3D6:footer-line"/>
          <p:cNvSpPr/>
          <p:nvPr/>
        </p:nvSpPr>
        <p:spPr>
          <a:xfrm>
            <a:off x="685800" y="6336792"/>
            <a:ext cx="10817352" cy="0"/>
          </a:xfrm>
          <a:prstGeom prst="line">
            <a:avLst/>
          </a:prstGeom>
          <a:noFill/>
          <a:ln w="12700">
            <a:solidFill>
              <a:srgbClr val="E7E6E6"/>
            </a:solidFill>
            <a:prstDash val="solid"/>
          </a:ln>
        </p:spPr>
      </p:sp>
      <p:sp>
        <p:nvSpPr>
          <p:cNvPr id="10" name="awf:SLD-C81119DA20855F38A3D6:sources"/>
          <p:cNvSpPr/>
          <p:nvPr/>
        </p:nvSpPr>
        <p:spPr>
          <a:xfrm>
            <a:off x="685800" y="6254496"/>
            <a:ext cx="9418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E719B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Sources: SRC-01-patient-level-synthet-44fed4fb8cd3, SRC-02-cohort-summary-1dbb58326345, SRC-03-model-results-60094a3fa178, SRC-04-sensitivity-results-5ccfe8975248, SRC-05-subgroup-results-2615cf06f550, SRC-06-missingness-52d547971cf7, SRC-07-data-dictionary-651b51eed07b, SRC-08-frozen-analysis-workb-7c9d8fa9a6d0, SRC-01-main-manuscript-synth-95e4fa25aff0, SRC-02-protocol-synopsis-syn-00480991443d, SRC-03-supplementary-methods-91c0cedcb895, SRC-figure-1-cohort-flow-768a1278488a, SRC-figure-2-primary-forest-64b705494c45, SRC-figure-3-creatinine-traj-a6ac74f7bbf8, SRC-figure-4-missingness-f10f6562518f, SRC-figure-5-sensitivity-1ccb24ef4f17, SRC-figure-5-sensitivity-7703f707fec0, SRC-reference-status-ca4e36a12f8d, SRC-selected-references-9ba20483f340</a:t>
            </a:r>
            <a:endParaRPr lang="en-US" sz="1000" dirty="0"/>
          </a:p>
        </p:txBody>
      </p:sp>
      <p:sp>
        <p:nvSpPr>
          <p:cNvPr id="11" name="awf:SLD-C81119DA20855F38A3D6:page-number"/>
          <p:cNvSpPr/>
          <p:nvPr/>
        </p:nvSpPr>
        <p:spPr>
          <a:xfrm>
            <a:off x="10789920" y="638251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19B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wf:SLD-3F9BB64F1ED7527A8F85:title-accent"/>
          <p:cNvSpPr/>
          <p:nvPr/>
        </p:nvSpPr>
        <p:spPr>
          <a:xfrm>
            <a:off x="685800" y="512064"/>
            <a:ext cx="493776" cy="64008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>
                <a:alpha val="0"/>
              </a:srgbClr>
            </a:solidFill>
            <a:prstDash val="solid"/>
          </a:ln>
        </p:spPr>
      </p:sp>
      <p:sp>
        <p:nvSpPr>
          <p:cNvPr id="3" name="awf:SLD-3F9BB64F1ED7527A8F85:title"/>
          <p:cNvSpPr/>
          <p:nvPr/>
        </p:nvSpPr>
        <p:spPr>
          <a:xfrm>
            <a:off x="685800" y="694944"/>
            <a:ext cx="1081735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44546A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人工科学审核是最终交付门槛</a:t>
            </a:r>
            <a:endParaRPr lang="en-US" sz="3500" dirty="0"/>
          </a:p>
        </p:txBody>
      </p:sp>
      <p:sp>
        <p:nvSpPr>
          <p:cNvPr id="4" name="awf:SLD-3F9BB64F1ED7527A8F85:key-message"/>
          <p:cNvSpPr/>
          <p:nvPr/>
        </p:nvSpPr>
        <p:spPr>
          <a:xfrm>
            <a:off x="1051560" y="2331720"/>
            <a:ext cx="10058400" cy="19202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44546A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合成结果提示双心室表型与更高 AKI 进展 odds 的关联最强；全部结论仍需人工科学审核，且不能外推为真实临床证据。</a:t>
            </a:r>
            <a:endParaRPr lang="en-US" sz="2500" dirty="0"/>
          </a:p>
        </p:txBody>
      </p:sp>
      <p:sp>
        <p:nvSpPr>
          <p:cNvPr id="5" name="awf:SLD-3F9BB64F1ED7527A8F85:footer-line"/>
          <p:cNvSpPr/>
          <p:nvPr/>
        </p:nvSpPr>
        <p:spPr>
          <a:xfrm>
            <a:off x="685800" y="6336792"/>
            <a:ext cx="10817352" cy="0"/>
          </a:xfrm>
          <a:prstGeom prst="line">
            <a:avLst/>
          </a:prstGeom>
          <a:noFill/>
          <a:ln w="12700">
            <a:solidFill>
              <a:srgbClr val="E7E6E6"/>
            </a:solidFill>
            <a:prstDash val="solid"/>
          </a:ln>
        </p:spPr>
      </p:sp>
      <p:sp>
        <p:nvSpPr>
          <p:cNvPr id="6" name="awf:SLD-3F9BB64F1ED7527A8F85:sources"/>
          <p:cNvSpPr/>
          <p:nvPr/>
        </p:nvSpPr>
        <p:spPr>
          <a:xfrm>
            <a:off x="685800" y="6254496"/>
            <a:ext cx="9418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E719B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Sources: SRC-01-main-manuscript-synth-95e4fa25aff0, SRC-02-protocol-synopsis-syn-00480991443d, SRC-figure-1-cohort-flow-768a1278488a, SRC-02-cohort-summary-1dbb58326345, SRC-03-model-results-60094a3fa178, SRC-figure-3-creatinine-traj-a6ac74f7bbf8, SRC-04-sensitivity-results-5ccfe8975248, SRC-05-subgroup-results-2615cf06f550, SRC-06-missingness-52d547971cf7, SRC-reference-status-ca4e36a12f8d</a:t>
            </a:r>
            <a:endParaRPr lang="en-US" sz="1000" dirty="0"/>
          </a:p>
        </p:txBody>
      </p:sp>
      <p:sp>
        <p:nvSpPr>
          <p:cNvPr id="7" name="awf:SLD-3F9BB64F1ED7527A8F85:page-number"/>
          <p:cNvSpPr/>
          <p:nvPr/>
        </p:nvSpPr>
        <p:spPr>
          <a:xfrm>
            <a:off x="10789920" y="638251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19B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Local assisted workflow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SYN_CARDIO_AKI_SHADOW_VALIDATION</dc:title>
  <dc:subject>Source-bound academic presentation</dc:subject>
  <dc:creator>Academic PPT Workflow</dc:creator>
  <cp:lastModifiedBy>Academic PPT Workflow</cp:lastModifiedBy>
  <cp:revision>1</cp:revision>
  <dcterms:created xsi:type="dcterms:W3CDTF">2026-07-30T03:06:10Z</dcterms:created>
  <dcterms:modified xsi:type="dcterms:W3CDTF">2026-07-30T03:06:10Z</dcterms:modified>
</cp:coreProperties>
</file>