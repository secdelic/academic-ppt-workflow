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SYNTHETIC-WORKSPACE-DATA | cover | no real claim or patient data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SYNTHETIC-WORKSPACE-DATA | section_divider | no real claim or patient data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SYNTHETIC-WORKSPACE-DATA | problem_gap_objective | no real claim or patient data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SYNTHETIC-WORKSPACE-DATA | method_framework | no real claim or patient data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SYNTHETIC-WORKSPACE-DATA | primary_result | no real claim or patient data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SYNTHETIC-WORKSPACE-DATA | secondary_result | no real claim or patient data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SYNTHETIC-WORKSPACE-DATA | hero_result | no real claim or patient data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SYNTHETIC-WORKSPACE-DATA | limitation | no real claim or patient data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SYNTHETIC-WORKSPACE-DATA | conclusion | no real claim or patient data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SYNTHETIC-WORKSPACE-DATA | appendix | no real claim or patient data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5385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" y="6473952"/>
            <a:ext cx="10835640" cy="0"/>
          </a:xfrm>
          <a:prstGeom prst="line">
            <a:avLst/>
          </a:prstGeom>
          <a:noFill/>
          <a:ln w="12700">
            <a:solidFill>
              <a:srgbClr val="6D78B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58368" y="6528816"/>
            <a:ext cx="3840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627D9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SYNTHETIC WORKSPACE PREVIEW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1155680" y="6519672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627D9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49808" y="1325880"/>
            <a:ext cx="7863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Thesis Defense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768096" y="2331720"/>
            <a:ext cx="6949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200" dirty="0">
                <a:solidFill>
                  <a:srgbClr val="D9EA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Canonical Visual Workspace · Synthetic Preview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 rot="1200000">
            <a:off x="8869680" y="1143000"/>
            <a:ext cx="2057400" cy="2057400"/>
          </a:xfrm>
          <a:prstGeom prst="arc">
            <a:avLst/>
          </a:prstGeom>
          <a:solidFill>
            <a:srgbClr val="253858">
              <a:alpha val="0"/>
            </a:srgbClr>
          </a:solidFill>
          <a:ln w="101600">
            <a:solidFill>
              <a:srgbClr val="6D78B7">
                <a:alpha val="90000"/>
              </a:srgbClr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25385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320040"/>
            <a:ext cx="107899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证据链决定页面节奏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658368" y="6473952"/>
            <a:ext cx="10835640" cy="0"/>
          </a:xfrm>
          <a:prstGeom prst="line">
            <a:avLst/>
          </a:prstGeom>
          <a:noFill/>
          <a:ln w="12700">
            <a:solidFill>
              <a:srgbClr val="6D78B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58368" y="6528816"/>
            <a:ext cx="3840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627D9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SYNTHETIC WORKSPACE PREVIEW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155680" y="6519672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627D9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914400" y="201168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问题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3063240" y="20116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000" dirty="0">
                <a:solidFill>
                  <a:srgbClr val="6D78B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3794760" y="201168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证据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5943600" y="20116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000" dirty="0">
                <a:solidFill>
                  <a:srgbClr val="6D78B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6675120" y="201168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决策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914400" y="3931920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D9EA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章节页只承担过渡，不堆叠细节</a:t>
            </a:r>
            <a:endParaRPr lang="en-US" sz="2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320040"/>
            <a:ext cx="107899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25385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问题、缺口与目标必须形成一条逻辑线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658368" y="6473952"/>
            <a:ext cx="10835640" cy="0"/>
          </a:xfrm>
          <a:prstGeom prst="line">
            <a:avLst/>
          </a:prstGeom>
          <a:noFill/>
          <a:ln w="12700">
            <a:solidFill>
              <a:srgbClr val="6D78B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58368" y="6528816"/>
            <a:ext cx="3840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627D9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SYNTHETIC WORKSPACE PREVIEW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155680" y="6519672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627D9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822960" y="1600200"/>
            <a:ext cx="2926080" cy="3337560"/>
          </a:xfrm>
          <a:prstGeom prst="roundRect">
            <a:avLst>
              <a:gd name="adj" fmla="val 1875"/>
            </a:avLst>
          </a:prstGeom>
          <a:solidFill>
            <a:srgbClr val="FFFFFF"/>
          </a:solidFill>
          <a:ln w="15240">
            <a:solidFill>
              <a:srgbClr val="D9E2E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05840" y="1828800"/>
            <a:ext cx="914400" cy="384048"/>
          </a:xfrm>
          <a:prstGeom prst="roundRect">
            <a:avLst>
              <a:gd name="adj" fmla="val 14286"/>
            </a:avLst>
          </a:prstGeom>
          <a:solidFill>
            <a:srgbClr val="EAF2F8"/>
          </a:solidFill>
          <a:ln w="12700">
            <a:solidFill>
              <a:srgbClr val="EAF2F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115568" y="1865376"/>
            <a:ext cx="6949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5385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已知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051560" y="2514600"/>
            <a:ext cx="24688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25385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观察到稳定但异质的信号</a:t>
            </a:r>
            <a:endParaRPr lang="en-US" sz="2100" dirty="0"/>
          </a:p>
        </p:txBody>
      </p:sp>
      <p:sp>
        <p:nvSpPr>
          <p:cNvPr id="10" name="Shape 8"/>
          <p:cNvSpPr/>
          <p:nvPr/>
        </p:nvSpPr>
        <p:spPr>
          <a:xfrm>
            <a:off x="4480560" y="1600200"/>
            <a:ext cx="2926080" cy="3337560"/>
          </a:xfrm>
          <a:prstGeom prst="roundRect">
            <a:avLst>
              <a:gd name="adj" fmla="val 1875"/>
            </a:avLst>
          </a:prstGeom>
          <a:solidFill>
            <a:srgbClr val="FFF4E5"/>
          </a:solidFill>
          <a:ln w="15240">
            <a:solidFill>
              <a:srgbClr val="D08C6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663440" y="1828800"/>
            <a:ext cx="914400" cy="384048"/>
          </a:xfrm>
          <a:prstGeom prst="roundRect">
            <a:avLst>
              <a:gd name="adj" fmla="val 14286"/>
            </a:avLst>
          </a:prstGeom>
          <a:solidFill>
            <a:srgbClr val="D08C60"/>
          </a:solidFill>
          <a:ln w="12700">
            <a:solidFill>
              <a:srgbClr val="D08C6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773168" y="1865376"/>
            <a:ext cx="6949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缺口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709160" y="2514600"/>
            <a:ext cx="24688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25385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关键决策边界仍未解决</a:t>
            </a:r>
            <a:endParaRPr lang="en-US" sz="2100" dirty="0"/>
          </a:p>
        </p:txBody>
      </p:sp>
      <p:sp>
        <p:nvSpPr>
          <p:cNvPr id="14" name="Shape 12"/>
          <p:cNvSpPr/>
          <p:nvPr/>
        </p:nvSpPr>
        <p:spPr>
          <a:xfrm>
            <a:off x="8138160" y="1600200"/>
            <a:ext cx="2926080" cy="3337560"/>
          </a:xfrm>
          <a:prstGeom prst="roundRect">
            <a:avLst>
              <a:gd name="adj" fmla="val 1875"/>
            </a:avLst>
          </a:prstGeom>
          <a:solidFill>
            <a:srgbClr val="FFFFFF"/>
          </a:solidFill>
          <a:ln w="15240">
            <a:solidFill>
              <a:srgbClr val="D9E2E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321040" y="1828800"/>
            <a:ext cx="914400" cy="384048"/>
          </a:xfrm>
          <a:prstGeom prst="roundRect">
            <a:avLst>
              <a:gd name="adj" fmla="val 14286"/>
            </a:avLst>
          </a:prstGeom>
          <a:solidFill>
            <a:srgbClr val="EAF2F8"/>
          </a:solidFill>
          <a:ln w="12700">
            <a:solidFill>
              <a:srgbClr val="EAF2F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430768" y="1865376"/>
            <a:ext cx="6949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5385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目标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8366760" y="2514600"/>
            <a:ext cx="24688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25385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用预先定义的证据回答问题</a:t>
            </a:r>
            <a:endParaRPr lang="en-US" sz="2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320040"/>
            <a:ext cx="107899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25385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方法框架把输入、分析与边界分开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658368" y="6473952"/>
            <a:ext cx="10835640" cy="0"/>
          </a:xfrm>
          <a:prstGeom prst="line">
            <a:avLst/>
          </a:prstGeom>
          <a:noFill/>
          <a:ln w="12700">
            <a:solidFill>
              <a:srgbClr val="6D78B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58368" y="6528816"/>
            <a:ext cx="3840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627D9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SYNTHETIC WORKSPACE PREVIEW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155680" y="6519672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627D9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822960" y="2057400"/>
            <a:ext cx="2331720" cy="1417320"/>
          </a:xfrm>
          <a:prstGeom prst="chevron">
            <a:avLst/>
          </a:prstGeom>
          <a:solidFill>
            <a:srgbClr val="25385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78992" y="2468880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输入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3584448" y="2057400"/>
            <a:ext cx="2331720" cy="1417320"/>
          </a:xfrm>
          <a:prstGeom prst="chevron">
            <a:avLst/>
          </a:prstGeom>
          <a:solidFill>
            <a:srgbClr val="6D78B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840480" y="2468880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质量门槛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6345936" y="2057400"/>
            <a:ext cx="2331720" cy="1417320"/>
          </a:xfrm>
          <a:prstGeom prst="chevron">
            <a:avLst/>
          </a:prstGeom>
          <a:solidFill>
            <a:srgbClr val="25385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601968" y="2468880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分析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9107424" y="2057400"/>
            <a:ext cx="2331720" cy="1417320"/>
          </a:xfrm>
          <a:prstGeom prst="chevron">
            <a:avLst/>
          </a:prstGeom>
          <a:solidFill>
            <a:srgbClr val="6D78B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363456" y="2468880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解释边界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868680" y="4160520"/>
            <a:ext cx="5943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627D9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合成示例不代表真实统计结果</a:t>
            </a: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320040"/>
            <a:ext cx="107899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25385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主要结果需要同时显示效应与比较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658368" y="6473952"/>
            <a:ext cx="10835640" cy="0"/>
          </a:xfrm>
          <a:prstGeom prst="line">
            <a:avLst/>
          </a:prstGeom>
          <a:noFill/>
          <a:ln w="12700">
            <a:solidFill>
              <a:srgbClr val="6D78B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58368" y="6528816"/>
            <a:ext cx="3840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627D9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SYNTHETIC WORKSPACE PREVIEW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155680" y="6519672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627D9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777240" y="1417320"/>
            <a:ext cx="7406640" cy="4343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280160" y="5257800"/>
            <a:ext cx="6492240" cy="0"/>
          </a:xfrm>
          <a:prstGeom prst="line">
            <a:avLst/>
          </a:prstGeom>
          <a:noFill/>
          <a:ln w="12700">
            <a:solidFill>
              <a:srgbClr val="9FB3C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280160" y="1828800"/>
            <a:ext cx="0" cy="3429000"/>
          </a:xfrm>
          <a:prstGeom prst="line">
            <a:avLst/>
          </a:prstGeom>
          <a:noFill/>
          <a:ln w="12700">
            <a:solidFill>
              <a:srgbClr val="9FB3C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463040" y="4348886"/>
            <a:ext cx="673913" cy="908914"/>
          </a:xfrm>
          <a:prstGeom prst="rect">
            <a:avLst/>
          </a:prstGeom>
          <a:solidFill>
            <a:srgbClr val="6D78B7"/>
          </a:solidFill>
          <a:ln w="12700">
            <a:solidFill>
              <a:srgbClr val="6D78B7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688336" y="3699662"/>
            <a:ext cx="673913" cy="1558138"/>
          </a:xfrm>
          <a:prstGeom prst="rect">
            <a:avLst/>
          </a:prstGeom>
          <a:solidFill>
            <a:srgbClr val="6D78B7"/>
          </a:solidFill>
          <a:ln w="12700">
            <a:solidFill>
              <a:srgbClr val="6D78B7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913632" y="2985516"/>
            <a:ext cx="673913" cy="2272284"/>
          </a:xfrm>
          <a:prstGeom prst="rect">
            <a:avLst/>
          </a:prstGeom>
          <a:solidFill>
            <a:srgbClr val="6D78B7"/>
          </a:solidFill>
          <a:ln w="12700">
            <a:solidFill>
              <a:srgbClr val="6D78B7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138928" y="3439973"/>
            <a:ext cx="673913" cy="1817827"/>
          </a:xfrm>
          <a:prstGeom prst="rect">
            <a:avLst/>
          </a:prstGeom>
          <a:solidFill>
            <a:srgbClr val="6D78B7"/>
          </a:solidFill>
          <a:ln w="12700">
            <a:solidFill>
              <a:srgbClr val="6D78B7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364224" y="2660904"/>
            <a:ext cx="673913" cy="2596896"/>
          </a:xfrm>
          <a:prstGeom prst="rect">
            <a:avLst/>
          </a:prstGeom>
          <a:solidFill>
            <a:srgbClr val="D08C60"/>
          </a:solidFill>
          <a:ln w="12700">
            <a:solidFill>
              <a:srgbClr val="D08C6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549640" y="1828800"/>
            <a:ext cx="2697480" cy="2011680"/>
          </a:xfrm>
          <a:prstGeom prst="roundRect">
            <a:avLst>
              <a:gd name="adj" fmla="val 2727"/>
            </a:avLst>
          </a:prstGeom>
          <a:solidFill>
            <a:srgbClr val="253858"/>
          </a:solidFill>
          <a:ln w="12700">
            <a:solidFill>
              <a:srgbClr val="25385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823960" y="2148840"/>
            <a:ext cx="2148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+12.4</a:t>
            </a:r>
            <a:endParaRPr lang="en-US" sz="4000" dirty="0"/>
          </a:p>
        </p:txBody>
      </p:sp>
      <p:sp>
        <p:nvSpPr>
          <p:cNvPr id="16" name="Text 14"/>
          <p:cNvSpPr/>
          <p:nvPr/>
        </p:nvSpPr>
        <p:spPr>
          <a:xfrm>
            <a:off x="8823960" y="2880360"/>
            <a:ext cx="2148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00" dirty="0">
                <a:solidFill>
                  <a:srgbClr val="D9EA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合成变化值</a:t>
            </a:r>
            <a:endParaRPr lang="en-US" sz="17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320040"/>
            <a:ext cx="107899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25385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分层结果用小多图保持实体范围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658368" y="6473952"/>
            <a:ext cx="10835640" cy="0"/>
          </a:xfrm>
          <a:prstGeom prst="line">
            <a:avLst/>
          </a:prstGeom>
          <a:noFill/>
          <a:ln w="12700">
            <a:solidFill>
              <a:srgbClr val="6D78B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58368" y="6528816"/>
            <a:ext cx="3840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627D9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SYNTHETIC WORKSPACE PREVIEW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155680" y="6519672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627D9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914400" y="150876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25385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分层 A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914400" y="1965960"/>
            <a:ext cx="2971800" cy="2971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417320" y="4434840"/>
            <a:ext cx="2057400" cy="0"/>
          </a:xfrm>
          <a:prstGeom prst="line">
            <a:avLst/>
          </a:prstGeom>
          <a:noFill/>
          <a:ln w="12700">
            <a:solidFill>
              <a:srgbClr val="9FB3C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417320" y="2377440"/>
            <a:ext cx="0" cy="2057400"/>
          </a:xfrm>
          <a:prstGeom prst="line">
            <a:avLst/>
          </a:prstGeom>
          <a:noFill/>
          <a:ln w="12700">
            <a:solidFill>
              <a:srgbClr val="9FB3C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600200" y="3647542"/>
            <a:ext cx="232601" cy="787298"/>
          </a:xfrm>
          <a:prstGeom prst="rect">
            <a:avLst/>
          </a:prstGeom>
          <a:solidFill>
            <a:srgbClr val="6D78B7"/>
          </a:solidFill>
          <a:ln w="12700">
            <a:solidFill>
              <a:srgbClr val="6D78B7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023110" y="3197657"/>
            <a:ext cx="232601" cy="1237183"/>
          </a:xfrm>
          <a:prstGeom prst="rect">
            <a:avLst/>
          </a:prstGeom>
          <a:solidFill>
            <a:srgbClr val="6D78B7"/>
          </a:solidFill>
          <a:ln w="12700">
            <a:solidFill>
              <a:srgbClr val="6D78B7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446020" y="3778758"/>
            <a:ext cx="232601" cy="656082"/>
          </a:xfrm>
          <a:prstGeom prst="rect">
            <a:avLst/>
          </a:prstGeom>
          <a:solidFill>
            <a:srgbClr val="6D78B7"/>
          </a:solidFill>
          <a:ln w="12700">
            <a:solidFill>
              <a:srgbClr val="6D78B7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868930" y="3085186"/>
            <a:ext cx="232601" cy="1349654"/>
          </a:xfrm>
          <a:prstGeom prst="rect">
            <a:avLst/>
          </a:prstGeom>
          <a:solidFill>
            <a:srgbClr val="D08C60"/>
          </a:solidFill>
          <a:ln w="12700">
            <a:solidFill>
              <a:srgbClr val="D08C6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663440" y="150876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25385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分层 B</a:t>
            </a:r>
            <a:endParaRPr lang="en-US" sz="2000" dirty="0"/>
          </a:p>
        </p:txBody>
      </p:sp>
      <p:sp>
        <p:nvSpPr>
          <p:cNvPr id="15" name="Shape 13"/>
          <p:cNvSpPr/>
          <p:nvPr/>
        </p:nvSpPr>
        <p:spPr>
          <a:xfrm>
            <a:off x="4663440" y="1965960"/>
            <a:ext cx="2971800" cy="2971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166360" y="4434840"/>
            <a:ext cx="2057400" cy="0"/>
          </a:xfrm>
          <a:prstGeom prst="line">
            <a:avLst/>
          </a:prstGeom>
          <a:noFill/>
          <a:ln w="12700">
            <a:solidFill>
              <a:srgbClr val="9FB3C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166360" y="2377440"/>
            <a:ext cx="0" cy="2057400"/>
          </a:xfrm>
          <a:prstGeom prst="line">
            <a:avLst/>
          </a:prstGeom>
          <a:noFill/>
          <a:ln w="12700">
            <a:solidFill>
              <a:srgbClr val="9FB3C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349240" y="3647542"/>
            <a:ext cx="232601" cy="787298"/>
          </a:xfrm>
          <a:prstGeom prst="rect">
            <a:avLst/>
          </a:prstGeom>
          <a:solidFill>
            <a:srgbClr val="6D78B7"/>
          </a:solidFill>
          <a:ln w="12700">
            <a:solidFill>
              <a:srgbClr val="6D78B7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772150" y="3197657"/>
            <a:ext cx="232601" cy="1237183"/>
          </a:xfrm>
          <a:prstGeom prst="rect">
            <a:avLst/>
          </a:prstGeom>
          <a:solidFill>
            <a:srgbClr val="6D78B7"/>
          </a:solidFill>
          <a:ln w="12700">
            <a:solidFill>
              <a:srgbClr val="6D78B7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195060" y="3778758"/>
            <a:ext cx="232601" cy="656082"/>
          </a:xfrm>
          <a:prstGeom prst="rect">
            <a:avLst/>
          </a:prstGeom>
          <a:solidFill>
            <a:srgbClr val="6D78B7"/>
          </a:solidFill>
          <a:ln w="12700">
            <a:solidFill>
              <a:srgbClr val="6D78B7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617970" y="3085186"/>
            <a:ext cx="232601" cy="1349654"/>
          </a:xfrm>
          <a:prstGeom prst="rect">
            <a:avLst/>
          </a:prstGeom>
          <a:solidFill>
            <a:srgbClr val="D08C60"/>
          </a:solidFill>
          <a:ln w="12700">
            <a:solidFill>
              <a:srgbClr val="D08C6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412480" y="150876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25385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分层 C</a:t>
            </a:r>
            <a:endParaRPr lang="en-US" sz="2000" dirty="0"/>
          </a:p>
        </p:txBody>
      </p:sp>
      <p:sp>
        <p:nvSpPr>
          <p:cNvPr id="23" name="Shape 21"/>
          <p:cNvSpPr/>
          <p:nvPr/>
        </p:nvSpPr>
        <p:spPr>
          <a:xfrm>
            <a:off x="8412480" y="1965960"/>
            <a:ext cx="2971800" cy="2971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915400" y="4434840"/>
            <a:ext cx="2057400" cy="0"/>
          </a:xfrm>
          <a:prstGeom prst="line">
            <a:avLst/>
          </a:prstGeom>
          <a:noFill/>
          <a:ln w="12700">
            <a:solidFill>
              <a:srgbClr val="9FB3C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915400" y="2377440"/>
            <a:ext cx="0" cy="2057400"/>
          </a:xfrm>
          <a:prstGeom prst="line">
            <a:avLst/>
          </a:prstGeom>
          <a:noFill/>
          <a:ln w="12700">
            <a:solidFill>
              <a:srgbClr val="9FB3C8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9098280" y="3647542"/>
            <a:ext cx="232601" cy="787298"/>
          </a:xfrm>
          <a:prstGeom prst="rect">
            <a:avLst/>
          </a:prstGeom>
          <a:solidFill>
            <a:srgbClr val="6D78B7"/>
          </a:solidFill>
          <a:ln w="12700">
            <a:solidFill>
              <a:srgbClr val="6D78B7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9521190" y="3197657"/>
            <a:ext cx="232601" cy="1237183"/>
          </a:xfrm>
          <a:prstGeom prst="rect">
            <a:avLst/>
          </a:prstGeom>
          <a:solidFill>
            <a:srgbClr val="6D78B7"/>
          </a:solidFill>
          <a:ln w="12700">
            <a:solidFill>
              <a:srgbClr val="6D78B7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9944100" y="3778758"/>
            <a:ext cx="232601" cy="656082"/>
          </a:xfrm>
          <a:prstGeom prst="rect">
            <a:avLst/>
          </a:prstGeom>
          <a:solidFill>
            <a:srgbClr val="6D78B7"/>
          </a:solidFill>
          <a:ln w="12700">
            <a:solidFill>
              <a:srgbClr val="6D78B7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10367010" y="3085186"/>
            <a:ext cx="232601" cy="1349654"/>
          </a:xfrm>
          <a:prstGeom prst="rect">
            <a:avLst/>
          </a:prstGeom>
          <a:solidFill>
            <a:srgbClr val="D08C60"/>
          </a:solidFill>
          <a:ln w="12700">
            <a:solidFill>
              <a:srgbClr val="D08C60"/>
            </a:solidFill>
            <a:prstDash val="solid"/>
          </a:ln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25385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320040"/>
            <a:ext cx="107899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核心结果只保留一个视觉中心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658368" y="6473952"/>
            <a:ext cx="10835640" cy="0"/>
          </a:xfrm>
          <a:prstGeom prst="line">
            <a:avLst/>
          </a:prstGeom>
          <a:noFill/>
          <a:ln w="12700">
            <a:solidFill>
              <a:srgbClr val="6D78B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58368" y="6528816"/>
            <a:ext cx="3840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627D9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SYNTHETIC WORKSPACE PREVIEW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155680" y="6519672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627D9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868680" y="1600200"/>
            <a:ext cx="39319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0.72</a:t>
            </a:r>
            <a:endParaRPr lang="en-US" sz="6600" dirty="0"/>
          </a:p>
        </p:txBody>
      </p:sp>
      <p:sp>
        <p:nvSpPr>
          <p:cNvPr id="7" name="Text 5"/>
          <p:cNvSpPr/>
          <p:nvPr/>
        </p:nvSpPr>
        <p:spPr>
          <a:xfrm>
            <a:off x="932688" y="2743200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D9EA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合成效应估计</a:t>
            </a:r>
            <a:endParaRPr lang="en-US" sz="2100" dirty="0"/>
          </a:p>
        </p:txBody>
      </p:sp>
      <p:sp>
        <p:nvSpPr>
          <p:cNvPr id="8" name="Shape 6"/>
          <p:cNvSpPr/>
          <p:nvPr/>
        </p:nvSpPr>
        <p:spPr>
          <a:xfrm>
            <a:off x="5029200" y="1325880"/>
            <a:ext cx="5943600" cy="4389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532120" y="5212080"/>
            <a:ext cx="5029200" cy="0"/>
          </a:xfrm>
          <a:prstGeom prst="line">
            <a:avLst/>
          </a:prstGeom>
          <a:noFill/>
          <a:ln w="12700">
            <a:solidFill>
              <a:srgbClr val="9FB3C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532120" y="1737360"/>
            <a:ext cx="0" cy="3474720"/>
          </a:xfrm>
          <a:prstGeom prst="line">
            <a:avLst/>
          </a:prstGeom>
          <a:noFill/>
          <a:ln w="12700">
            <a:solidFill>
              <a:srgbClr val="9FB3C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715000" y="4301338"/>
            <a:ext cx="146304" cy="146304"/>
          </a:xfrm>
          <a:prstGeom prst="ellipse">
            <a:avLst/>
          </a:prstGeom>
          <a:solidFill>
            <a:srgbClr val="6D78B7"/>
          </a:solidFill>
          <a:ln w="12700">
            <a:solidFill>
              <a:srgbClr val="6D78B7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647688" y="3670402"/>
            <a:ext cx="146304" cy="146304"/>
          </a:xfrm>
          <a:prstGeom prst="ellipse">
            <a:avLst/>
          </a:prstGeom>
          <a:solidFill>
            <a:srgbClr val="6D78B7"/>
          </a:solidFill>
          <a:ln w="12700">
            <a:solidFill>
              <a:srgbClr val="6D78B7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580376" y="2976372"/>
            <a:ext cx="146304" cy="146304"/>
          </a:xfrm>
          <a:prstGeom prst="ellipse">
            <a:avLst/>
          </a:prstGeom>
          <a:solidFill>
            <a:srgbClr val="6D78B7"/>
          </a:solidFill>
          <a:ln w="12700">
            <a:solidFill>
              <a:srgbClr val="6D78B7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513064" y="3418027"/>
            <a:ext cx="146304" cy="146304"/>
          </a:xfrm>
          <a:prstGeom prst="ellipse">
            <a:avLst/>
          </a:prstGeom>
          <a:solidFill>
            <a:srgbClr val="6D78B7"/>
          </a:solidFill>
          <a:ln w="12700">
            <a:solidFill>
              <a:srgbClr val="6D78B7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9445752" y="2660904"/>
            <a:ext cx="146304" cy="146304"/>
          </a:xfrm>
          <a:prstGeom prst="ellipse">
            <a:avLst/>
          </a:prstGeom>
          <a:solidFill>
            <a:srgbClr val="D08C60"/>
          </a:solidFill>
          <a:ln w="12700">
            <a:solidFill>
              <a:srgbClr val="D08C6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96112" y="3886200"/>
            <a:ext cx="3611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6D78B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95% 区间跨越预设阈值</a:t>
            </a:r>
            <a:endParaRPr lang="en-US" sz="2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320040"/>
            <a:ext cx="107899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25385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局限性决定结论可以走多远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658368" y="6473952"/>
            <a:ext cx="10835640" cy="0"/>
          </a:xfrm>
          <a:prstGeom prst="line">
            <a:avLst/>
          </a:prstGeom>
          <a:noFill/>
          <a:ln w="12700">
            <a:solidFill>
              <a:srgbClr val="6D78B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58368" y="6528816"/>
            <a:ext cx="3840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627D9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SYNTHETIC WORKSPACE PREVIEW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155680" y="6519672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627D9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914400" y="1554480"/>
            <a:ext cx="9875520" cy="86868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88720" y="1737360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D08C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874520" y="1719072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25385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测量误差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4572000" y="1737360"/>
            <a:ext cx="5120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627D9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需要在正式结论中保持限定语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914400" y="2788920"/>
            <a:ext cx="9875520" cy="868680"/>
          </a:xfrm>
          <a:prstGeom prst="roundRect">
            <a:avLst>
              <a:gd name="adj" fmla="val 5263"/>
            </a:avLst>
          </a:prstGeom>
          <a:solidFill>
            <a:srgbClr val="FFF4E5"/>
          </a:solidFill>
          <a:ln w="12700">
            <a:solidFill>
              <a:srgbClr val="D08C6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188720" y="2971800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D08C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1874520" y="2953512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25385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残余混杂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572000" y="2971800"/>
            <a:ext cx="5120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627D9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需要在正式结论中保持限定语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914400" y="4023360"/>
            <a:ext cx="9875520" cy="86868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188720" y="4206240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D08C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1874520" y="4187952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25385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外部有效性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4572000" y="4206240"/>
            <a:ext cx="5120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627D9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需要在正式结论中保持限定语</a:t>
            </a:r>
            <a:endParaRPr lang="en-US" sz="1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320040"/>
            <a:ext cx="107899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25385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结论必须把证据、边界与行动连接起来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658368" y="6473952"/>
            <a:ext cx="10835640" cy="0"/>
          </a:xfrm>
          <a:prstGeom prst="line">
            <a:avLst/>
          </a:prstGeom>
          <a:noFill/>
          <a:ln w="12700">
            <a:solidFill>
              <a:srgbClr val="6D78B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58368" y="6528816"/>
            <a:ext cx="3840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627D9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SYNTHETIC WORKSPACE PREVIEW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155680" y="6519672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627D9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9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914400" y="1600200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5385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证据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914400" y="2148840"/>
            <a:ext cx="2514600" cy="0"/>
          </a:xfrm>
          <a:prstGeom prst="line">
            <a:avLst/>
          </a:prstGeom>
          <a:noFill/>
          <a:ln w="50800">
            <a:solidFill>
              <a:srgbClr val="6D78B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4400" y="2468880"/>
            <a:ext cx="25603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25385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合成信号方向一致</a:t>
            </a:r>
            <a:endParaRPr lang="en-US" sz="2100" dirty="0"/>
          </a:p>
        </p:txBody>
      </p:sp>
      <p:sp>
        <p:nvSpPr>
          <p:cNvPr id="9" name="Text 7"/>
          <p:cNvSpPr/>
          <p:nvPr/>
        </p:nvSpPr>
        <p:spPr>
          <a:xfrm>
            <a:off x="4617720" y="1600200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5385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边界</a:t>
            </a:r>
            <a:endParaRPr lang="en-US" sz="2400" dirty="0"/>
          </a:p>
        </p:txBody>
      </p:sp>
      <p:sp>
        <p:nvSpPr>
          <p:cNvPr id="10" name="Shape 8"/>
          <p:cNvSpPr/>
          <p:nvPr/>
        </p:nvSpPr>
        <p:spPr>
          <a:xfrm>
            <a:off x="4617720" y="2148840"/>
            <a:ext cx="2514600" cy="0"/>
          </a:xfrm>
          <a:prstGeom prst="line">
            <a:avLst/>
          </a:prstGeom>
          <a:noFill/>
          <a:ln w="50800">
            <a:solidFill>
              <a:srgbClr val="6D78B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617720" y="2468880"/>
            <a:ext cx="25603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25385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不确定性仍需保留</a:t>
            </a:r>
            <a:endParaRPr lang="en-US" sz="2100" dirty="0"/>
          </a:p>
        </p:txBody>
      </p:sp>
      <p:sp>
        <p:nvSpPr>
          <p:cNvPr id="12" name="Text 10"/>
          <p:cNvSpPr/>
          <p:nvPr/>
        </p:nvSpPr>
        <p:spPr>
          <a:xfrm>
            <a:off x="8321040" y="1600200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D08C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下一步</a:t>
            </a:r>
            <a:endParaRPr lang="en-US" sz="2400" dirty="0"/>
          </a:p>
        </p:txBody>
      </p:sp>
      <p:sp>
        <p:nvSpPr>
          <p:cNvPr id="13" name="Shape 11"/>
          <p:cNvSpPr/>
          <p:nvPr/>
        </p:nvSpPr>
        <p:spPr>
          <a:xfrm>
            <a:off x="8321040" y="2148840"/>
            <a:ext cx="2514600" cy="0"/>
          </a:xfrm>
          <a:prstGeom prst="line">
            <a:avLst/>
          </a:prstGeom>
          <a:noFill/>
          <a:ln w="50800">
            <a:solidFill>
              <a:srgbClr val="D08C6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321040" y="2468880"/>
            <a:ext cx="25603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25385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进入人工科学复核</a:t>
            </a:r>
            <a:endParaRPr lang="en-US" sz="2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320040"/>
            <a:ext cx="107899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25385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附录：来源、规则与审计对象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658368" y="6473952"/>
            <a:ext cx="10835640" cy="0"/>
          </a:xfrm>
          <a:prstGeom prst="line">
            <a:avLst/>
          </a:prstGeom>
          <a:noFill/>
          <a:ln w="12700">
            <a:solidFill>
              <a:srgbClr val="6D78B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58368" y="6528816"/>
            <a:ext cx="3840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627D9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SYNTHETIC WORKSPACE PREVIEW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155680" y="6519672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627D9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822960" y="1508760"/>
            <a:ext cx="3657600" cy="640080"/>
          </a:xfrm>
          <a:prstGeom prst="rect">
            <a:avLst/>
          </a:prstGeom>
          <a:solidFill>
            <a:srgbClr val="253858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60120" y="1664208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对象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4663440" y="1508760"/>
            <a:ext cx="3200400" cy="640080"/>
          </a:xfrm>
          <a:prstGeom prst="rect">
            <a:avLst/>
          </a:prstGeom>
          <a:solidFill>
            <a:srgbClr val="253858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800600" y="1664208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状态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8046720" y="1508760"/>
            <a:ext cx="3566160" cy="640080"/>
          </a:xfrm>
          <a:prstGeom prst="rect">
            <a:avLst/>
          </a:prstGeom>
          <a:solidFill>
            <a:srgbClr val="253858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183880" y="1664208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822960" y="2258568"/>
            <a:ext cx="365760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60120" y="2414016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25385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SlideSpec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4663440" y="2258568"/>
            <a:ext cx="320040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800600" y="2414016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25385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已验证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8046720" y="2258568"/>
            <a:ext cx="356616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183880" y="2414016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25385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SYNTHETIC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822960" y="3008376"/>
            <a:ext cx="3657600" cy="640080"/>
          </a:xfrm>
          <a:prstGeom prst="rect">
            <a:avLst/>
          </a:prstGeom>
          <a:solidFill>
            <a:srgbClr val="EDF2F7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60120" y="3163824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25385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VisualSpec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4663440" y="3008376"/>
            <a:ext cx="3200400" cy="640080"/>
          </a:xfrm>
          <a:prstGeom prst="rect">
            <a:avLst/>
          </a:prstGeom>
          <a:solidFill>
            <a:srgbClr val="EDF2F7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00600" y="3163824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25385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已验证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8046720" y="3008376"/>
            <a:ext cx="3566160" cy="640080"/>
          </a:xfrm>
          <a:prstGeom prst="rect">
            <a:avLst/>
          </a:prstGeom>
          <a:solidFill>
            <a:srgbClr val="EDF2F7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183880" y="3163824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25385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SYNTHETIC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822960" y="3758184"/>
            <a:ext cx="365760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60120" y="3913632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25385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人工评分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4663440" y="3758184"/>
            <a:ext cx="320040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800600" y="3913632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25385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待完成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8046720" y="3758184"/>
            <a:ext cx="356616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183880" y="3913632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25385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human_review.csv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icrosoft YaHe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icrosoft YaHe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Local private workflow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Thesis Defense Workspace</dc:title>
  <dc:subject>Synthetic Thesis Defense visual workspace</dc:subject>
  <dc:creator>Academic PPT Workflow</dc:creator>
  <cp:lastModifiedBy>Academic PPT Workflow</cp:lastModifiedBy>
  <cp:revision>1</cp:revision>
  <dcterms:created xsi:type="dcterms:W3CDTF">2026-08-12T13:11:22Z</dcterms:created>
  <dcterms:modified xsi:type="dcterms:W3CDTF">2026-08-12T13:11:22Z</dcterms:modified>
</cp:coreProperties>
</file>